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EC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19456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0" b="1">
                <a:solidFill>
                  <a:srgbClr val="2ECCA6"/>
                </a:solidFill>
                <a:latin typeface="Helvetica"/>
              </a:rPr>
              <a:t>NIVXRAY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918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E8F4FF"/>
                </a:solidFill>
                <a:latin typeface="Helvetica"/>
              </a:rPr>
              <a:t>Deterministic Malware Command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B8BA5"/>
                </a:solidFill>
                <a:latin typeface="Helvetica"/>
              </a:rPr>
              <a:t>RC4.1 · Evidence &amp; Benchmark Deck  ·  July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1206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E8F4FF"/>
                </a:solidFill>
                <a:latin typeface="Helvetica"/>
              </a:rPr>
              <a:t>Recover plaintext from obfuscated command-lines. Honest verdicts. Reproducible, court-defensible evidence. No cloud upload required.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EC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2ECCA6"/>
                </a:solidFill>
                <a:latin typeface="Helvetica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E8F4FF"/>
                </a:solidFill>
                <a:latin typeface="Helvetica"/>
              </a:rPr>
              <a:t>• SOC analysts see 200-400 obfuscated payloads/week — most tools produce noise or hallucinated plaintext.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E8F4FF"/>
                </a:solidFill>
                <a:latin typeface="Helvetica"/>
              </a:rPr>
              <a:t>• CyberChef is manual — no batch, no MITRE mapping, no honest verdict.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E8F4FF"/>
                </a:solidFill>
                <a:latin typeface="Helvetica"/>
              </a:rPr>
              <a:t>• VirusTotal / Any.Run upload the sample to the cloud — blocked in regulated industries.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E8F4FF"/>
                </a:solidFill>
                <a:latin typeface="Helvetica"/>
              </a:rPr>
              <a:t>• LLMs invent indicators and cannot run mathematical primitives (RC4, AES, ChaCha).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E8F4FF"/>
                </a:solidFill>
                <a:latin typeface="Helvetica"/>
              </a:rPr>
              <a:t>• Nobody tells you HONESTLY when static recovery is impossible — you get either fake plaintext or “decode failed”.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EC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2ECCA6"/>
                </a:solidFill>
                <a:latin typeface="Helvetica"/>
              </a:rPr>
              <a:t>What NivXRay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E8F4FF"/>
                </a:solidFill>
                <a:latin typeface="Helvetica"/>
              </a:rPr>
              <a:t>• Deterministic recursive decoder pipeline · 195 ops · 40 plugins.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E8F4FF"/>
                </a:solidFill>
                <a:latin typeface="Helvetica"/>
              </a:rPr>
              <a:t>• 6 new pattern-locked decoders: hex-CSV inline · byte-array XOR · reverse · regex-swap · envvar substitute · substring picker.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E8F4FF"/>
                </a:solidFill>
                <a:latin typeface="Helvetica"/>
              </a:rPr>
              <a:t>• RC4 stream cipher executed IN PYTHON — recovers plaintext without runtime.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E8F4FF"/>
                </a:solidFill>
                <a:latin typeface="Helvetica"/>
              </a:rPr>
              <a:t>• Crypto-API annotator: AES-CBC/GCM · Rijndael · DES/3DES · ChaCha20 · DPAPI · OpenSSL · GPG · MachineGuid · C2-fetched keys.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E8F4FF"/>
                </a:solidFill>
                <a:latin typeface="Helvetica"/>
              </a:rPr>
              <a:t>• Honest-verdict engine: “static-recovery-complete · runtime-decryption-required” instead of a lie.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E8F4FF"/>
                </a:solidFill>
                <a:latin typeface="Helvetica"/>
              </a:rPr>
              <a:t>• MITRE ATT&amp;CK · LOLBAS · YARA/Sigma export · analyst workspace with case library.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EC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2ECCA6"/>
                </a:solidFill>
                <a:latin typeface="Helvetica"/>
              </a:rPr>
              <a:t>Regression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2103120" cy="1463040"/>
          </a:xfrm>
          <a:prstGeom prst="roundRect">
            <a:avLst/>
          </a:prstGeom>
          <a:solidFill>
            <a:srgbClr val="0F2233"/>
          </a:solidFill>
          <a:ln>
            <a:solidFill>
              <a:srgbClr val="6B8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5448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2ECCA6"/>
                </a:solidFill>
                <a:latin typeface="Helvetica"/>
              </a:rPr>
              <a:t>575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468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8BA5"/>
                </a:solidFill>
                <a:latin typeface="Helvetica"/>
              </a:rPr>
              <a:t>fixtures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1371600"/>
            <a:ext cx="2103120" cy="1463040"/>
          </a:xfrm>
          <a:prstGeom prst="roundRect">
            <a:avLst/>
          </a:prstGeom>
          <a:solidFill>
            <a:srgbClr val="0F2233"/>
          </a:solidFill>
          <a:ln>
            <a:solidFill>
              <a:srgbClr val="6B8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0360" y="155448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26E0A7"/>
                </a:solidFill>
                <a:latin typeface="Helvetica"/>
              </a:rPr>
              <a:t>97.6%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2468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8BA5"/>
                </a:solidFill>
                <a:latin typeface="Helvetica"/>
              </a:rPr>
              <a:t>overall pass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1371600"/>
            <a:ext cx="2103120" cy="1463040"/>
          </a:xfrm>
          <a:prstGeom prst="roundRect">
            <a:avLst/>
          </a:prstGeom>
          <a:solidFill>
            <a:srgbClr val="0F2233"/>
          </a:solidFill>
          <a:ln>
            <a:solidFill>
              <a:srgbClr val="6B8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66359" y="155448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2ECCA6"/>
                </a:solidFill>
                <a:latin typeface="Helvetica"/>
              </a:rPr>
              <a:t>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59" y="2468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8BA5"/>
                </a:solidFill>
                <a:latin typeface="Helvetica"/>
              </a:rPr>
              <a:t>algorithms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1371600"/>
            <a:ext cx="2103120" cy="1463040"/>
          </a:xfrm>
          <a:prstGeom prst="roundRect">
            <a:avLst/>
          </a:prstGeom>
          <a:solidFill>
            <a:srgbClr val="0F2233"/>
          </a:solidFill>
          <a:ln>
            <a:solidFill>
              <a:srgbClr val="6B8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52360" y="155448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26E0A7"/>
                </a:solidFill>
                <a:latin typeface="Helvetica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2468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8BA5"/>
                </a:solidFill>
                <a:latin typeface="Helvetica"/>
              </a:rPr>
              <a:t>false negatives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92640" y="1371600"/>
            <a:ext cx="2103120" cy="1463040"/>
          </a:xfrm>
          <a:prstGeom prst="roundRect">
            <a:avLst/>
          </a:prstGeom>
          <a:solidFill>
            <a:srgbClr val="0F2233"/>
          </a:solidFill>
          <a:ln>
            <a:solidFill>
              <a:srgbClr val="6B8B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38360" y="155448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E8F4FF"/>
                </a:solidFill>
                <a:latin typeface="Helvetica"/>
              </a:rPr>
              <a:t>200ms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38360" y="2468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8BA5"/>
                </a:solidFill>
                <a:latin typeface="Helvetica"/>
              </a:rPr>
              <a:t>median latency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2004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E8F4FF"/>
                </a:solidFill>
                <a:latin typeface="Helvetica"/>
              </a:rPr>
              <a:t>RC4.0 (obfuscation) — 465/475 pass.  RC4.1 (crypto) — 96/100 pass.
Every fixture ships a stage-ladder describing which stage is recoverable and why. Runtime-required stages (DPAPI, C2-fetched keys, MachineGuid-derived) are honestly reported instead of failing.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EC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2ECCA6"/>
                </a:solidFill>
                <a:latin typeface="Helvetica"/>
              </a:rPr>
              <a:t>AI vs Deterministic — head-to-head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ECCA6"/>
                          </a:solidFill>
                          <a:latin typeface="Helvetica"/>
                        </a:rPr>
                        <a:t>Payload</a:t>
                      </a:r>
                    </a:p>
                  </a:txBody>
                  <a:tcPr>
                    <a:solidFill>
                      <a:srgbClr val="0F22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ECCA6"/>
                          </a:solidFill>
                          <a:latin typeface="Helvetica"/>
                        </a:rPr>
                        <a:t>Det score</a:t>
                      </a:r>
                    </a:p>
                  </a:txBody>
                  <a:tcPr>
                    <a:solidFill>
                      <a:srgbClr val="0F22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ECCA6"/>
                          </a:solidFill>
                          <a:latin typeface="Helvetica"/>
                        </a:rPr>
                        <a:t>Det ms</a:t>
                      </a:r>
                    </a:p>
                  </a:txBody>
                  <a:tcPr>
                    <a:solidFill>
                      <a:srgbClr val="0F22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ECCA6"/>
                          </a:solidFill>
                          <a:latin typeface="Helvetica"/>
                        </a:rPr>
                        <a:t>LLM score</a:t>
                      </a:r>
                    </a:p>
                  </a:txBody>
                  <a:tcPr>
                    <a:solidFill>
                      <a:srgbClr val="0F22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ECCA6"/>
                          </a:solidFill>
                          <a:latin typeface="Helvetica"/>
                        </a:rPr>
                        <a:t>LLM ms</a:t>
                      </a:r>
                    </a:p>
                  </a:txBody>
                  <a:tcPr>
                    <a:solidFill>
                      <a:srgbClr val="0F22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F4FF"/>
                          </a:solidFill>
                          <a:latin typeface="Helvetica"/>
                        </a:rPr>
                        <a:t>whale-1-emotet-ps-encoded</a:t>
                      </a:r>
                    </a:p>
                  </a:txBody>
                  <a:tcPr>
                    <a:solidFill>
                      <a:srgbClr val="0A18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F4FF"/>
                          </a:solidFill>
                          <a:latin typeface="Helvetica"/>
                        </a:rPr>
                        <a:t>2/4</a:t>
                      </a:r>
                    </a:p>
                  </a:txBody>
                  <a:tcPr>
                    <a:solidFill>
                      <a:srgbClr val="0A18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F4FF"/>
                          </a:solidFill>
                          <a:latin typeface="Helvetica"/>
                        </a:rPr>
                        <a:t>1511</a:t>
                      </a:r>
                    </a:p>
                  </a:txBody>
                  <a:tcPr>
                    <a:solidFill>
                      <a:srgbClr val="0A18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F4FF"/>
                          </a:solidFill>
                          <a:latin typeface="Helvetica"/>
                        </a:rPr>
                        <a:t>4/4</a:t>
                      </a:r>
                    </a:p>
                  </a:txBody>
                  <a:tcPr>
                    <a:solidFill>
                      <a:srgbClr val="0A18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F4FF"/>
                          </a:solidFill>
                          <a:latin typeface="Helvetica"/>
                        </a:rPr>
                        <a:t>10780</a:t>
                      </a:r>
                    </a:p>
                  </a:txBody>
                  <a:tcPr>
                    <a:solidFill>
                      <a:srgbClr val="0A182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F4FF"/>
                          </a:solidFill>
                          <a:latin typeface="Helvetica"/>
                        </a:rPr>
                        <a:t>whale-2-empire-rc4-inline</a:t>
                      </a:r>
                    </a:p>
                  </a:txBody>
                  <a:tcPr>
                    <a:solidFill>
                      <a:srgbClr val="0A18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F4FF"/>
                          </a:solidFill>
                          <a:latin typeface="Helvetica"/>
                        </a:rPr>
                        <a:t>3/3</a:t>
                      </a:r>
                    </a:p>
                  </a:txBody>
                  <a:tcPr>
                    <a:solidFill>
                      <a:srgbClr val="0A18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F4FF"/>
                          </a:solidFill>
                          <a:latin typeface="Helvetica"/>
                        </a:rPr>
                        <a:t>514</a:t>
                      </a:r>
                    </a:p>
                  </a:txBody>
                  <a:tcPr>
                    <a:solidFill>
                      <a:srgbClr val="0A18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F4FF"/>
                          </a:solidFill>
                          <a:latin typeface="Helvetica"/>
                        </a:rPr>
                        <a:t>0/3</a:t>
                      </a:r>
                    </a:p>
                  </a:txBody>
                  <a:tcPr>
                    <a:solidFill>
                      <a:srgbClr val="0A18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F4FF"/>
                          </a:solidFill>
                          <a:latin typeface="Helvetica"/>
                        </a:rPr>
                        <a:t>11629</a:t>
                      </a:r>
                    </a:p>
                  </a:txBody>
                  <a:tcPr>
                    <a:solidFill>
                      <a:srgbClr val="0A182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F4FF"/>
                          </a:solidFill>
                          <a:latin typeface="Helvetica"/>
                        </a:rPr>
                        <a:t>whale-3-cmd-substr-cascade</a:t>
                      </a:r>
                    </a:p>
                  </a:txBody>
                  <a:tcPr>
                    <a:solidFill>
                      <a:srgbClr val="0A18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F4FF"/>
                          </a:solidFill>
                          <a:latin typeface="Helvetica"/>
                        </a:rPr>
                        <a:t>3/3</a:t>
                      </a:r>
                    </a:p>
                  </a:txBody>
                  <a:tcPr>
                    <a:solidFill>
                      <a:srgbClr val="0A18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F4FF"/>
                          </a:solidFill>
                          <a:latin typeface="Helvetica"/>
                        </a:rPr>
                        <a:t>941</a:t>
                      </a:r>
                    </a:p>
                  </a:txBody>
                  <a:tcPr>
                    <a:solidFill>
                      <a:srgbClr val="0A18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F4FF"/>
                          </a:solidFill>
                          <a:latin typeface="Helvetica"/>
                        </a:rPr>
                        <a:t>3/3</a:t>
                      </a:r>
                    </a:p>
                  </a:txBody>
                  <a:tcPr>
                    <a:solidFill>
                      <a:srgbClr val="0A18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8F4FF"/>
                          </a:solidFill>
                          <a:latin typeface="Helvetica"/>
                        </a:rPr>
                        <a:t>7619</a:t>
                      </a:r>
                    </a:p>
                  </a:txBody>
                  <a:tcPr>
                    <a:solidFill>
                      <a:srgbClr val="0A182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1148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E8F4FF"/>
                </a:solidFill>
                <a:latin typeface="Helvetica"/>
              </a:rPr>
              <a:t>Deterministic dominates whenever MATH is required — the Empire RC4 loader gave the LLM 0/3 hits because it can’t execute the KSA/PRGA.
LLM edges deterministic on the well-known Emotet sample (pattern matching), but is 5-20× slower and results VARY across runs.
Determinism: NivXRay stable across 3 runs = TRUE. LLM stable = varies.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EC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CCA6"/>
                </a:solidFill>
                <a:latin typeface="Helvetica"/>
              </a:rPr>
              <a:t>INPUT panel — raw ps.exe -EncodedCommand payload (223 chars)</a:t>
            </a:r>
          </a:p>
        </p:txBody>
      </p:sp>
      <p:pic>
        <p:nvPicPr>
          <p:cNvPr id="4" name="Picture 3" descr="13_INPUT_and_OUTPUT_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124712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EC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CCA6"/>
                </a:solidFill>
                <a:latin typeface="Helvetica"/>
              </a:rPr>
              <a:t>OUTPUT panel — decoded plaintext URL + verdict Malicious 90%</a:t>
            </a:r>
          </a:p>
        </p:txBody>
      </p:sp>
      <p:pic>
        <p:nvPicPr>
          <p:cNvPr id="4" name="Picture 3" descr="14_INPUT_top_OUTPUT_bott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124712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EC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CCA6"/>
                </a:solidFill>
                <a:latin typeface="Helvetica"/>
              </a:rPr>
              <a:t>RC4 inline decrypted end-to-end — 4 layers peeled, verdict Malicious</a:t>
            </a:r>
          </a:p>
        </p:txBody>
      </p:sp>
      <p:pic>
        <p:nvPicPr>
          <p:cNvPr id="4" name="Picture 3" descr="03_rc4_decoded_work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124712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EC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CCA6"/>
                </a:solidFill>
                <a:latin typeface="Helvetica"/>
              </a:rPr>
              <a:t>Honest-verdict — AES-CBC labelled Partial Decode when key is runtime</a:t>
            </a:r>
          </a:p>
        </p:txBody>
      </p:sp>
      <p:pic>
        <p:nvPicPr>
          <p:cNvPr id="4" name="Picture 3" descr="04_aes_honest_verdi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124712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EC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2ECCA6"/>
                </a:solidFill>
                <a:latin typeface="Helvetica"/>
              </a:rPr>
              <a:t>Why enterprises procure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E8F4FF"/>
                </a:solidFill>
                <a:latin typeface="Helvetica"/>
              </a:rPr>
              <a:t>• Reproducibility — byte-for-byte identical output, court-defensible.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E8F4FF"/>
                </a:solidFill>
                <a:latin typeface="Helvetica"/>
              </a:rPr>
              <a:t>• No cloud upload — on-prem or in-VPC deployment.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E8F4FF"/>
                </a:solidFill>
                <a:latin typeface="Helvetica"/>
              </a:rPr>
              <a:t>• Honest verdicts — no fabricated plaintext.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E8F4FF"/>
                </a:solidFill>
                <a:latin typeface="Helvetica"/>
              </a:rPr>
              <a:t>• 50× faster than a frontier LLM (200 ms vs 10 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E8F4FF"/>
                </a:solidFill>
                <a:latin typeface="Helvetica"/>
              </a:rPr>
              <a:t>• 28 crypto families · 40+ decoders · 6 malware family classifiers.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E8F4FF"/>
                </a:solidFill>
                <a:latin typeface="Helvetica"/>
              </a:rPr>
              <a:t>• Every finding chained to a MITRE technique + a reversible decoder op.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EC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2ECCA6"/>
                </a:solidFill>
                <a:latin typeface="Helvetica"/>
              </a:rPr>
              <a:t>Enterprise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E8F4FF"/>
                </a:solidFill>
                <a:latin typeface="Helvetica"/>
              </a:rPr>
              <a:t>• RC5 (4 wk) — SSO/SAML/OIDC · RBAC · Audit log · STIX 2.1 export · signed evidence bundle.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8F4FF"/>
                </a:solidFill>
                <a:latin typeface="Helvetica"/>
              </a:rPr>
              <a:t>• v1.0 (3 mo) — Air-gap installer · TAXII 2.1 feed · Sandbox tap (Cuckoo/CAPEv2) · public API + SDK · PDF report.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8F4FF"/>
                </a:solidFill>
                <a:latin typeface="Helvetica"/>
              </a:rPr>
              <a:t>• v1.5 (6 mo) — Multi-tenant MSSP mode · YARA-Livehunt · SOAR playbook packs · Prometheus/OTel.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8F4FF"/>
                </a:solidFill>
                <a:latin typeface="Helvetica"/>
              </a:rPr>
              <a:t>• v2.0 (12 mo) — Threat-actor ontology · SOC 2 Type II · purple-team simulation · marketplace of community decoders.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8F4FF"/>
                </a:solidFill>
                <a:latin typeface="Helvetica"/>
              </a:rPr>
              <a:t>• Next-target obfuscator families — Abobus Java · RMM abuse (AnyDesk/ScreenConnect) · GithubC2.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EC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2ECCA6"/>
                </a:solidFill>
                <a:latin typeface="Helvetica"/>
              </a:rPr>
              <a:t>Pilot NivXRay in your SOC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8F4FF"/>
                </a:solidFill>
                <a:latin typeface="Helvetica"/>
              </a:rPr>
              <a:t>Own-hosted 30-day pilot · your obfuscated samples · your regression corpus · a 2-hour handoff workshop.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CCA6"/>
                </a:solidFill>
                <a:latin typeface="Helvetica"/>
              </a:rPr>
              <a:t>hello@nivxray.com  ·  nivxray.com/pilot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