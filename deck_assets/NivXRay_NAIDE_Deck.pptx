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EE6A8"/>
                </a:solidFill>
                <a:latin typeface="Consolas"/>
              </a:rPr>
              <a:t>NIVXRAY · NAIDE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E6FFE9"/>
                </a:solidFill>
                <a:latin typeface="Segoe UI"/>
              </a:rPr>
              <a:t>Autonomous Investigation</a:t>
            </a:r>
          </a:p>
          <a:p>
            <a:pPr algn="l"/>
            <a:r>
              <a:rPr sz="5400" b="1">
                <a:solidFill>
                  <a:srgbClr val="E6FFE9"/>
                </a:solidFill>
                <a:latin typeface="Segoe UI"/>
              </a:rPr>
              <a:t>&amp; Deterministic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6C9AA"/>
                </a:solidFill>
                <a:latin typeface="Segoe UI"/>
              </a:rPr>
              <a:t>From raw evidence to ticket-ready analyst brief · in seconds · zero LLM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Consolas"/>
              </a:rPr>
              <a:t>Pitch Deck · Product · Architecture · Use Cases · ROI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The SOC is drowning in evidence · but starved of clarity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247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>•  A single suspicious PowerShell blob takes an L1 analyst 20–40 minutes to peel, decode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>   and map to MITRE — often with 4-6 online tools open in parallel (CyberChef, VT,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>   AbuseIPDB, URLScan, custom regex, Excel).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>•  Threat-intel reports (Talos, Microsoft, Mandiant, Cisco) bury the actionable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>   evidence — IOCs, commands, MITRE — inside 15+ pages of prose.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>•  Modern LLM copilots are non-deterministic. Same input gives different verdicts on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>   different days. Auditors and IR teams cannot defend a non-reproducible finding.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>•  Existing decoders stop at 'decode'. They don't correlate IOCs, hashes, MITRE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>   techniques, LOLBAS binaries, YARA/Sigma ideas, or produce a ticket-ready brief.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Segoe UI"/>
              </a:rPr>
              <a:t>•  Analysts context-switch across 6+ tabs · miss 30–60% of embedded indicators.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INTRODUCING NAIDE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One paste. One click. A full deterministic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7EE6A8"/>
                </a:solidFill>
                <a:latin typeface="Consolas"/>
              </a:rPr>
              <a:t>NivXRay Autonomous Investigation &amp; Deterministic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2471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>•  Accepts ANYTHING an analyst can paste — a PowerShell blob, a raw URL, a threat-</a:t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>   report link, an EDR CSV row, a Sysmon XML, a defanged IOC list, or a multi-</a:t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>   stage command chain.</a:t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>•  Runs 60+ registered capabilities on a passive registry — decode, IOC extraction,</a:t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>   IDA (URL acquisition), DIE (semantic AST), ICE (incident correlation), MITRE</a:t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>   mapping, LOLBAS lookup, YARA-lite, IOC enrichment (VT / AbuseIPDB / OTX).</a:t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>•  Every finding is evidence-provenanced. Every verdict is reproducible bit-for-bit.</a:t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>   Optional LLM narrative sits ON TOP — never inside — the evidence graph.</a:t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>•  Ships an analyst brief that reads like a senior human analyst wrote it: Executive</a:t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>   Summary, Observed Behaviour, Attack Intent, MITRE Summary, IOC Intelligence,</a:t>
            </a:r>
          </a:p>
          <a:p>
            <a:pPr algn="l"/>
            <a:r>
              <a:rPr sz="1400" b="0">
                <a:solidFill>
                  <a:srgbClr val="E6FFE9"/>
                </a:solidFill>
                <a:latin typeface="Segoe UI"/>
              </a:rPr>
              <a:t>   Recommendations, and Evidence Confidence — all in ~2-8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WHY DETERMINISTIC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Deterministic vs LLM-drift · the audit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EE6A8"/>
                </a:solidFill>
                <a:latin typeface="Consolas"/>
              </a:rPr>
              <a:t>DIMENSION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9164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EE6A8"/>
                </a:solidFill>
                <a:latin typeface="Consolas"/>
              </a:rPr>
              <a:t>NIVXRAY · NAIDE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9164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B26B"/>
                </a:solidFill>
                <a:latin typeface="Consolas"/>
              </a:rPr>
              <a:t>LLM-ONLY COPILOTS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Reproducibility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031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Same input → same output, bit-for-bit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Non-deterministic · different every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7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Auditability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61487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Every field carries a provenance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61487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Cannot show why a verdict was reached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198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19856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2-8 seconds for a full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419856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10-60 seconds + token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7822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Cost per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07822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Zero LLM cost on the core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078224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$0.02-$0.20 per investigation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3659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Air-gapped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73659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Runs fully offline — deterministic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73659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Needs cloud LLM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94959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SOC-analyst 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394959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Findings can be cross-checked in ~seconds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394959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'Why did it say that?' is unanswerable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Six-pillar deterministic core · zero-drift by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737360" cy="1828800"/>
          </a:xfrm>
          <a:prstGeom prst="roundRect">
            <a:avLst/>
          </a:prstGeom>
          <a:solidFill>
            <a:srgbClr val="0D1E18"/>
          </a:solidFill>
          <a:ln w="19050">
            <a:solidFill>
              <a:srgbClr val="7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7EE6A8"/>
                </a:solidFill>
                <a:latin typeface="Consolas"/>
              </a:rPr>
              <a:t>IUE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1460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6FFE9"/>
                </a:solidFill>
                <a:latin typeface="Segoe UI"/>
              </a:rPr>
              <a:t>Input</a:t>
            </a:r>
          </a:p>
          <a:p>
            <a:pPr algn="ctr"/>
            <a:r>
              <a:rPr sz="1100" b="1">
                <a:solidFill>
                  <a:srgbClr val="E6FFE9"/>
                </a:solidFill>
                <a:latin typeface="Segoe UI"/>
              </a:rPr>
              <a:t>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2724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6C9AA"/>
                </a:solidFill>
                <a:latin typeface="Consolas"/>
              </a:rPr>
              <a:t>url · ps · cmd</a:t>
            </a:r>
          </a:p>
          <a:p>
            <a:pPr algn="ctr"/>
            <a:r>
              <a:rPr sz="800" b="0">
                <a:solidFill>
                  <a:srgbClr val="96C9AA"/>
                </a:solidFill>
                <a:latin typeface="Consolas"/>
              </a:rPr>
              <a:t>csv · xml · prose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03120" y="2606040"/>
            <a:ext cx="91440" cy="274320"/>
          </a:xfrm>
          <a:prstGeom prst="rightArrow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94560" y="1828800"/>
            <a:ext cx="1737360" cy="1828800"/>
          </a:xfrm>
          <a:prstGeom prst="roundRect">
            <a:avLst/>
          </a:prstGeom>
          <a:solidFill>
            <a:srgbClr val="0D1E18"/>
          </a:solidFill>
          <a:ln w="19050">
            <a:solidFill>
              <a:srgbClr val="7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965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7EE6A8"/>
                </a:solidFill>
                <a:latin typeface="Consolas"/>
              </a:rPr>
              <a:t>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51460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6FFE9"/>
                </a:solidFill>
                <a:latin typeface="Segoe UI"/>
              </a:rPr>
              <a:t>Document</a:t>
            </a:r>
          </a:p>
          <a:p>
            <a:pPr algn="ctr"/>
            <a:r>
              <a:rPr sz="1100" b="1">
                <a:solidFill>
                  <a:srgbClr val="E6FFE9"/>
                </a:solidFill>
                <a:latin typeface="Segoe UI"/>
              </a:rPr>
              <a:t>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12724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6C9AA"/>
                </a:solidFill>
                <a:latin typeface="Consolas"/>
              </a:rPr>
              <a:t>Talos · MS</a:t>
            </a:r>
          </a:p>
          <a:p>
            <a:pPr algn="ctr"/>
            <a:r>
              <a:rPr sz="800" b="0">
                <a:solidFill>
                  <a:srgbClr val="96C9AA"/>
                </a:solidFill>
                <a:latin typeface="Consolas"/>
              </a:rPr>
              <a:t>Mandiant · Cisco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31920" y="2606040"/>
            <a:ext cx="91440" cy="274320"/>
          </a:xfrm>
          <a:prstGeom prst="rightArrow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23360" y="1828800"/>
            <a:ext cx="1737360" cy="1828800"/>
          </a:xfrm>
          <a:prstGeom prst="roundRect">
            <a:avLst/>
          </a:prstGeom>
          <a:solidFill>
            <a:srgbClr val="0D1E18"/>
          </a:solidFill>
          <a:ln w="19050">
            <a:solidFill>
              <a:srgbClr val="7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1965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7EE6A8"/>
                </a:solidFill>
                <a:latin typeface="Consolas"/>
              </a:rPr>
              <a:t>DIE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51460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6FFE9"/>
                </a:solidFill>
                <a:latin typeface="Segoe UI"/>
              </a:rPr>
              <a:t>Deterministic</a:t>
            </a:r>
          </a:p>
          <a:p>
            <a:pPr algn="ctr"/>
            <a:r>
              <a:rPr sz="1100" b="1">
                <a:solidFill>
                  <a:srgbClr val="E6FFE9"/>
                </a:solidFill>
                <a:latin typeface="Segoe UI"/>
              </a:rPr>
              <a:t>Investigation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12724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6C9AA"/>
                </a:solidFill>
                <a:latin typeface="Consolas"/>
              </a:rPr>
              <a:t>PS-AST · CMD-AST</a:t>
            </a:r>
          </a:p>
          <a:p>
            <a:pPr algn="ctr"/>
            <a:r>
              <a:rPr sz="800" b="0">
                <a:solidFill>
                  <a:srgbClr val="96C9AA"/>
                </a:solidFill>
                <a:latin typeface="Consolas"/>
              </a:rPr>
              <a:t>Bash · Python · JS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60720" y="2606040"/>
            <a:ext cx="91440" cy="274320"/>
          </a:xfrm>
          <a:prstGeom prst="rightArrow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52160" y="1828800"/>
            <a:ext cx="1737360" cy="1828800"/>
          </a:xfrm>
          <a:prstGeom prst="roundRect">
            <a:avLst/>
          </a:prstGeom>
          <a:solidFill>
            <a:srgbClr val="0D1E18"/>
          </a:solidFill>
          <a:ln w="19050">
            <a:solidFill>
              <a:srgbClr val="7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965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7EE6A8"/>
                </a:solidFill>
                <a:latin typeface="Consolas"/>
              </a:rPr>
              <a:t>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51460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6FFE9"/>
                </a:solidFill>
                <a:latin typeface="Segoe UI"/>
              </a:rPr>
              <a:t>Incident</a:t>
            </a:r>
          </a:p>
          <a:p>
            <a:pPr algn="ctr"/>
            <a:r>
              <a:rPr sz="1100" b="1">
                <a:solidFill>
                  <a:srgbClr val="E6FFE9"/>
                </a:solidFill>
                <a:latin typeface="Segoe UI"/>
              </a:rPr>
              <a:t>Correlation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12724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6C9AA"/>
                </a:solidFill>
                <a:latin typeface="Consolas"/>
              </a:rPr>
              <a:t>merge stages</a:t>
            </a:r>
          </a:p>
          <a:p>
            <a:pPr algn="ctr"/>
            <a:r>
              <a:rPr sz="800" b="0">
                <a:solidFill>
                  <a:srgbClr val="96C9AA"/>
                </a:solidFill>
                <a:latin typeface="Consolas"/>
              </a:rPr>
              <a:t>tactics · behaviors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589520" y="2606040"/>
            <a:ext cx="91440" cy="274320"/>
          </a:xfrm>
          <a:prstGeom prst="rightArrow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0" y="1828800"/>
            <a:ext cx="1737360" cy="1828800"/>
          </a:xfrm>
          <a:prstGeom prst="roundRect">
            <a:avLst/>
          </a:prstGeom>
          <a:solidFill>
            <a:srgbClr val="0D1E18"/>
          </a:solidFill>
          <a:ln w="19050">
            <a:solidFill>
              <a:srgbClr val="7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1965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7EE6A8"/>
                </a:solidFill>
                <a:latin typeface="Consolas"/>
              </a:rPr>
              <a:t>IEDDE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51460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6FFE9"/>
                </a:solidFill>
                <a:latin typeface="Segoe UI"/>
              </a:rPr>
              <a:t>Evidence-Driven</a:t>
            </a:r>
          </a:p>
          <a:p>
            <a:pPr algn="ctr"/>
            <a:r>
              <a:rPr sz="1100" b="1">
                <a:solidFill>
                  <a:srgbClr val="E6FFE9"/>
                </a:solidFill>
                <a:latin typeface="Segoe UI"/>
              </a:rPr>
              <a:t>Decoding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12724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6C9AA"/>
                </a:solidFill>
                <a:latin typeface="Consolas"/>
              </a:rPr>
              <a:t>per-layer why</a:t>
            </a:r>
          </a:p>
          <a:p>
            <a:pPr algn="ctr"/>
            <a:r>
              <a:rPr sz="800" b="0">
                <a:solidFill>
                  <a:srgbClr val="96C9AA"/>
                </a:solidFill>
                <a:latin typeface="Consolas"/>
              </a:rPr>
              <a:t>per-layer confidence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18320" y="2606040"/>
            <a:ext cx="91440" cy="274320"/>
          </a:xfrm>
          <a:prstGeom prst="rightArrow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09760" y="1828800"/>
            <a:ext cx="1737360" cy="1828800"/>
          </a:xfrm>
          <a:prstGeom prst="roundRect">
            <a:avLst/>
          </a:prstGeom>
          <a:solidFill>
            <a:srgbClr val="0D1E18"/>
          </a:solidFill>
          <a:ln w="19050">
            <a:solidFill>
              <a:srgbClr val="7EE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1965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7EE6A8"/>
                </a:solidFill>
                <a:latin typeface="Consolas"/>
              </a:rPr>
              <a:t>L4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51460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6FFE9"/>
                </a:solidFill>
                <a:latin typeface="Segoe UI"/>
              </a:rPr>
              <a:t>Analyst</a:t>
            </a:r>
          </a:p>
          <a:p>
            <a:pPr algn="ctr"/>
            <a:r>
              <a:rPr sz="1100" b="1">
                <a:solidFill>
                  <a:srgbClr val="E6FFE9"/>
                </a:solidFill>
                <a:latin typeface="Segoe UI"/>
              </a:rPr>
              <a:t>Brief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312724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6C9AA"/>
                </a:solidFill>
                <a:latin typeface="Consolas"/>
              </a:rPr>
              <a:t>9-card brief</a:t>
            </a:r>
          </a:p>
          <a:p>
            <a:pPr algn="ctr"/>
            <a:r>
              <a:rPr sz="800" b="0">
                <a:solidFill>
                  <a:srgbClr val="96C9AA"/>
                </a:solidFill>
                <a:latin typeface="Consolas"/>
              </a:rPr>
              <a:t>+ MITRE swim-lane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DATA FLOWING BETWEEN PILLARS  ·  every arrow is a typed contract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343400"/>
            <a:ext cx="11247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FFE9"/>
                </a:solidFill>
                <a:latin typeface="Consolas"/>
              </a:rPr>
              <a:t>  raw_bytes        →   iue_verdict        →   canonical_document   →   dki_ast + stages</a:t>
            </a:r>
          </a:p>
          <a:p>
            <a:pPr algn="l"/>
            <a:r>
              <a:rPr sz="1100" b="0">
                <a:solidFill>
                  <a:srgbClr val="E6FFE9"/>
                </a:solidFill>
                <a:latin typeface="Consolas"/>
              </a:rPr>
              <a:t>  IUE                    (IDA fetch)            (DIE analyze)           (ICE correlate)</a:t>
            </a:r>
          </a:p>
          <a:p>
            <a:pPr algn="l"/>
            <a:r>
              <a:rPr sz="1100" b="0">
                <a:solidFill>
                  <a:srgbClr val="E6FFE9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E6FFE9"/>
                </a:solidFill>
                <a:latin typeface="Consolas"/>
              </a:rPr>
              <a:t>                    →   incident + tactics  →   provenance_record   →   summary_narrative</a:t>
            </a:r>
          </a:p>
          <a:p>
            <a:pPr algn="l"/>
            <a:r>
              <a:rPr sz="1100" b="0">
                <a:solidFill>
                  <a:srgbClr val="E6FFE9"/>
                </a:solidFill>
                <a:latin typeface="Consolas"/>
              </a:rPr>
              <a:t>                        (ICE emit)             (IEDDE stamp)           (L4 render)</a:t>
            </a:r>
          </a:p>
          <a:p>
            <a:pPr algn="l"/>
            <a:r>
              <a:rPr sz="1100" b="0">
                <a:solidFill>
                  <a:srgbClr val="E6FFE9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E6FFE9"/>
                </a:solidFill>
                <a:latin typeface="Consolas"/>
              </a:rPr>
              <a:t>Passive Registry (M0d thin router)  ·  Zero-Drift Equivalence Harness (145 tests)</a:t>
            </a:r>
          </a:p>
          <a:p>
            <a:pPr algn="l"/>
            <a:r>
              <a:rPr sz="1100" b="0">
                <a:solidFill>
                  <a:srgbClr val="E6FFE9"/>
                </a:solidFill>
                <a:latin typeface="Consolas"/>
              </a:rPr>
              <a:t>Optional LLM overlay sits ABOVE L4 — never inside the deterministic 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ARCHITECTURE ·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One paste · one deterministic path · every field provenanced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115214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┌─────────────────────────────────┐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ANALYST PASTE  ─────▶     │  IUE                     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(any input)                │  · classify: url / ps / csv…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· confidence + rationale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└─────────────────────────────────┘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┌────────────────────┼────────────────────┐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▼                    ▼                    ▼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┌──────────────────┐  ┌──────────────────┐  ┌──────────────────┐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│  IDA             │  │  DIE             │  │  Adapter Set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│  (URL path)      │  │  (payload path)  │  │  (Sysmon/EVTX/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│  · fetch body    │  │  · PS-AST        │  │   CSV/PDF/DOCX)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│  · extract cmds  │  │  · CMD/Bash-AST  │  │  · normalize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│  · IOCs · MITRE  │  │  · Python/JS-AST │  │  · index 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│  · timeline      │  │  · semantic AST  │  │  · route 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└──────────────────┘  └──────────────────┘  └──────────────────┘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│                    │            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└────────────────────┼────────────────────┘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▼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┌─────────────────────────────────┐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ICE  (Incident Correlation)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· merge per-stage evidence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· dedupe · tactics observed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· behaviors[] · IOCs correlated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└─────────────────────────────────┘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▼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┌─────────────────────────────────┐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IEDDE  (Provenance Engine)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· why each decode fired 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· evidence confidence per field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· reproducible bit-for-bit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└─────────────────────────────────┘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▼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┌─────────────────────────────────┐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L4 · Analyst Brief      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· Executive · Analyst Summary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· MITRE · IOCs · Recs · Verdict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│  · Optional LLM narrative ON TOP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└─────────────────────────────────┘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9 adapters · 10 analyzers · a passive capability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2471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Adapters (input surface):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URL Adapter · IDA acquires threat reports · pluggable vendor pack (Talos, MS, Mandiant, Cisco)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Sysmon Event 1/3 · EVTX transport · CSV EDR · Base64/Hex/Gzip/Zlib/LZMA/AES/RC4 payloads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PDF / DOCX / HTML · attachment upload · Sysmon Event 11 (File Create) · Event 22 (DNS)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Analyzers (correlate + judge):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IOC Enrichment (VirusTotal · AbuseIPDB · OTX · abuse.ch · URLScan · Shodan)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MITRE ATT&amp;CK Mapper · LOLBAS · YARA-lite · Sigma-hint generator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Report Generator (Executive Summary · Ticket-ready Analyst Summary · Attack Intent)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Artifact Intelligence (PE header · shellcode detect · defanged IOC refang)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Behavioral Timeline · Query/Hunt sub-view · Predicted Process Tree · Verdict Card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Passive registry: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Every capability declares its accepted formats + version + implementation path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Thin router dispatches; capabilities never call each other directly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Determinism-lock via a canonical equivalence harness (145 zero-drift regression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DEPLOYMENT MODEL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Upstream · NivXRay enriches logs BEFORE they reach SIEM/EDR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1521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EE6A8"/>
                </a:solidFill>
                <a:latin typeface="Consolas"/>
              </a:rPr>
              <a:t>  ┌────────────┐    ┌────────────┐    ┌────────────┐    ┌──────────────┐    ┌────────────┐</a:t>
            </a:r>
          </a:p>
          <a:p>
            <a:pPr algn="l"/>
            <a:r>
              <a:rPr sz="1000" b="0">
                <a:solidFill>
                  <a:srgbClr val="7EE6A8"/>
                </a:solidFill>
                <a:latin typeface="Consolas"/>
              </a:rPr>
              <a:t>  │  LOG       │    │  LOG       │    │            │    │              │    │            │</a:t>
            </a:r>
          </a:p>
          <a:p>
            <a:pPr algn="l"/>
            <a:r>
              <a:rPr sz="1000" b="0">
                <a:solidFill>
                  <a:srgbClr val="7EE6A8"/>
                </a:solidFill>
                <a:latin typeface="Consolas"/>
              </a:rPr>
              <a:t>  │  SOURCES   │──▶ │  COLLECTOR │──▶ │  NIVXRAY   │──▶ │  ENRICHED    │──▶ │  SIEM /    │</a:t>
            </a:r>
          </a:p>
          <a:p>
            <a:pPr algn="l"/>
            <a:r>
              <a:rPr sz="1000" b="0">
                <a:solidFill>
                  <a:srgbClr val="7EE6A8"/>
                </a:solidFill>
                <a:latin typeface="Consolas"/>
              </a:rPr>
              <a:t>  │            │    │  (agent /  │    │  · NAIDE   │    │  EVENT +     │    │  EDR       │</a:t>
            </a:r>
          </a:p>
          <a:p>
            <a:pPr algn="l"/>
            <a:r>
              <a:rPr sz="1000" b="0">
                <a:solidFill>
                  <a:srgbClr val="7EE6A8"/>
                </a:solidFill>
                <a:latin typeface="Consolas"/>
              </a:rPr>
              <a:t>  │  Sysmon    │    │  Fluentd / │    │            │    │  BRIEF       │    │  (Splunk, │</a:t>
            </a:r>
          </a:p>
          <a:p>
            <a:pPr algn="l"/>
            <a:r>
              <a:rPr sz="1000" b="0">
                <a:solidFill>
                  <a:srgbClr val="7EE6A8"/>
                </a:solidFill>
                <a:latin typeface="Consolas"/>
              </a:rPr>
              <a:t>  │  Windows   │    │  Vector /  │    │  · IUE     │    │  · MITRE     │    │  Sentinel,│</a:t>
            </a:r>
          </a:p>
          <a:p>
            <a:pPr algn="l"/>
            <a:r>
              <a:rPr sz="1000" b="0">
                <a:solidFill>
                  <a:srgbClr val="7EE6A8"/>
                </a:solidFill>
                <a:latin typeface="Consolas"/>
              </a:rPr>
              <a:t>  │  Linux     │    │  Filebeat) │    │  · DIE     │    │  · IOCs      │    │  Elastic, │</a:t>
            </a:r>
          </a:p>
          <a:p>
            <a:pPr algn="l"/>
            <a:r>
              <a:rPr sz="1000" b="0">
                <a:solidFill>
                  <a:srgbClr val="7EE6A8"/>
                </a:solidFill>
                <a:latin typeface="Consolas"/>
              </a:rPr>
              <a:t>  │  EDR CSV   │    │            │    │  · ICE     │    │  · Verdict   │    │  QRadar,  │</a:t>
            </a:r>
          </a:p>
          <a:p>
            <a:pPr algn="l"/>
            <a:r>
              <a:rPr sz="1000" b="0">
                <a:solidFill>
                  <a:srgbClr val="7EE6A8"/>
                </a:solidFill>
                <a:latin typeface="Consolas"/>
              </a:rPr>
              <a:t>  │  Netflow   │    │            │    │  · L4      │    │  · Recs      │    │  Chronicle)│</a:t>
            </a:r>
          </a:p>
          <a:p>
            <a:pPr algn="l"/>
            <a:r>
              <a:rPr sz="1000" b="0">
                <a:solidFill>
                  <a:srgbClr val="7EE6A8"/>
                </a:solidFill>
                <a:latin typeface="Consolas"/>
              </a:rPr>
              <a:t>  └────────────┘    └────────────┘    └────────────┘    └──────────────┘    └────────────┘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Value delivered: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Every event lands in SIEM already enriched with MITRE technique IDs + IOC verdict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Detection rules trigger on richer signals — fewer false positives, higher fidelity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Analysts see a ticket-ready brief in the alert body — not raw log bytes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Reduces mean detection cost per case by ~60% (deterministic, no LLM tokens)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DEPLOYMENT MODEL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Downstream · analyst-triggered investigation from SIEM/EDR 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521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       ┌──────────────┐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       │      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┌────────────┐    ┌────────────┐    ┌────────▶ │  NIVXRAY     │  ─┐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│            │    │            │    │  Alert   │  · NAIDE     │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│  SIEM /    │──▶ │  ALERT     │────┘  payload │              │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│  EDR       │    │  TRIGGERED │               │  autonomous  │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│            │    │            │    ◀───────── │  investigate │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│  Splunk    │    │  (attack   │    Enriched   │  (2-8 s)     │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│  Sentinel  │    │  ID + IOCs │    JSON       │              │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│  Chronicle)│    │  + hash)   │               │              │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└────────────┘    └────────────┘               └──────────────┘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                │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                ▼        ▼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       ┌───────────────────┐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       │  ANALYST UI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       │  · Brief    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       │  · Attack Chain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       │  · IOC Intel      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       │  · Recommendations│</a:t>
            </a:r>
          </a:p>
          <a:p>
            <a:pPr algn="l"/>
            <a:r>
              <a:rPr sz="900" b="0">
                <a:solidFill>
                  <a:srgbClr val="7EE6A8"/>
                </a:solidFill>
                <a:latin typeface="Consolas"/>
              </a:rPr>
              <a:t>                                                 └───────────────────┘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Segoe UI"/>
              </a:rPr>
              <a:t>Analyst opens the ticket · NivXRay has ALREADY completed the investigation · verify + escalate in under a minute.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USE CASE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FFE9"/>
                </a:solidFill>
                <a:latin typeface="Segoe UI"/>
              </a:rPr>
              <a:t>Threat-report URL triage · Talos, Mandiant, 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Paste the URL of a public threat report. NAIDE acquires the article, extracts every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command, IOC, MITRE technique, timeline event and hash — then produces a full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deterministic analyst brief.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Live example: Talos IR ransomware blog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6 commands investigated · 62 IOCs · 11 MITRE techniques · 6 tactic swim-lanes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Malware families: 7 identified · CVEs correlated · timeline reconstructed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End-to-end time: ~2.4 seconds (vs 45-90 min analyst read + extract)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USE CASE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FFE9"/>
                </a:solidFill>
                <a:latin typeface="Segoe UI"/>
              </a:rPr>
              <a:t>Obfuscated PowerShell -encodedcommand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Paste a PowerShell -e blob. NAIDE recursively peels every layer (base64, gzip,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UTF-16LE, XOR, character-array). Each layer's decoded output is surfaced with a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confidence score and MITRE mapping.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Multi-layer chain-mode fires automatically when multi-encoding is detected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LOLBAS binaries flagged with per-technique badge (T1059.001, T1218.005, etc.)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YARA-lite + Sigma hunt ideas generated deterministically from the recovered payload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Time: ~3-5 seconds for a 4-layer chain (vs 25 min manual CyberChef pipeline)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USE CASE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FFE9"/>
                </a:solidFill>
                <a:latin typeface="Segoe UI"/>
              </a:rPr>
              <a:t>Analyst-paste IOC sweep · defanged bundle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Paste any mix of defanged URLs, hashes, IPs, CVEs. NAIDE refangs everything, dedupes,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resolves each IOC against the MITRE technique catalog and (optionally) live OSINT.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Hash policy — ONLY SHA-256 hashes accepted (MD5 / SHA-1 filtered at projection)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Every IOC card shows: verdict · confidence · consensus · first-seen · related campaigns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Providers marked 'pending' until VT / AbuseIPDB / abuse.ch keys are wired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Time: ~1-2 seconds for a 50-IOC paste (vs manual VT/AbuseIPDB browsing)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USE CASE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FFE9"/>
                </a:solidFill>
                <a:latin typeface="Segoe UI"/>
              </a:rPr>
              <a:t>EDR CSV / Sysmon Event 1 · endpoint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Drop a CSV export from Sophos / SentinelOne / CrowdStrike / Symantec — or paste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raw Sysmon Event XML. NAIDE parses the process trees, extracts commands, maps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each to MITRE, and clusters the attack chain into tactic swim-lanes.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Predicted Process Tree reconstructs parent-child from EDR rows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Behavioral Timeline shows chronology of every timestamped event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Query/Hunt scoped sub-view lets the analyst filter by tactic or actor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Time: ~4-6 seconds for a 500-row CSV (vs multi-hour Excel triage)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USE CASE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FFE9"/>
                </a:solidFill>
                <a:latin typeface="Segoe UI"/>
              </a:rPr>
              <a:t>Ransomware / multi-stage command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Paste a multi-line ClickFix / EDR-bypass / Meterpreter runner. NAIDE splits into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stages, decodes each stage's obfuscation, maps techniques per stage, and shows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the full attack-chain trajectory across ATT&amp;CK tactics.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Automatic chain-mode routing when multi-command is detected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Executive Summary reads like a senior analyst wrote it: risk, intent, impact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Recommendations grouped as Immediate · Threat Hunting · Containment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Time: ~3-8 seconds for a 4-stage chain (vs 60+ min manual pipeline)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USE CASE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FFE9"/>
                </a:solidFill>
                <a:latin typeface="Segoe UI"/>
              </a:rPr>
              <a:t>Live SIEM alert enrichment (Setup-2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SIEM detects suspicious PS execution → alert body pushed to NAIDE → 6 seconds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later the analyst opens a ticket with the FULL brief already attached: MITRE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mapping, IOC verdicts, LOLBAS badges, executive summary, containment steps.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Analyst verifies in ~60 seconds instead of investigating from scratch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Handoff export: SOC Brief .md · PDF report · STIX 2.1 bundle · JSON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Every artifact is deterministic + reproducible — audit-friendly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Segoe UI"/>
              </a:rPr>
              <a:t>•  Time saved per alert: ~20-40 minutes of L1 analyst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THREAT ANALYSIS · SIDEBAR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10 tabs · every angle of the investigation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Consolas"/>
              </a:rPr>
              <a:t>GRAPH</a:t>
            </a:r>
          </a:p>
        </p:txBody>
      </p:sp>
      <p:pic>
        <p:nvPicPr>
          <p:cNvPr id="6" name="Picture 5" descr="tab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20"/>
            <a:ext cx="3749039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6C9AA"/>
                </a:solidFill>
                <a:latin typeface="Segoe UI"/>
              </a:rPr>
              <a:t>Investigation Graph · every stage + IOC + MITRE / LOLBIN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Consolas"/>
              </a:rPr>
              <a:t>MITRE</a:t>
            </a:r>
          </a:p>
        </p:txBody>
      </p:sp>
      <p:pic>
        <p:nvPicPr>
          <p:cNvPr id="9" name="Picture 8" descr="tab_mit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874520"/>
            <a:ext cx="3749039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36576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6C9AA"/>
                </a:solidFill>
                <a:latin typeface="Segoe UI"/>
              </a:rPr>
              <a:t>MITRE ATT&amp;CK · every technique with ID + name + tactic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087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Consolas"/>
              </a:rPr>
              <a:t>LOLBAS</a:t>
            </a:r>
          </a:p>
        </p:txBody>
      </p:sp>
      <p:pic>
        <p:nvPicPr>
          <p:cNvPr id="12" name="Picture 11" descr="tab_lolb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874520"/>
            <a:ext cx="3749039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1040" y="36576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6C9AA"/>
                </a:solidFill>
                <a:latin typeface="Segoe UI"/>
              </a:rPr>
              <a:t>Living-off-the-Land binaries · every abused binary +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Consolas"/>
              </a:rPr>
              <a:t>RULES</a:t>
            </a:r>
          </a:p>
        </p:txBody>
      </p:sp>
      <p:pic>
        <p:nvPicPr>
          <p:cNvPr id="15" name="Picture 14" descr="tab_ru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80560"/>
            <a:ext cx="3749039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626364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6C9AA"/>
                </a:solidFill>
                <a:latin typeface="Segoe UI"/>
              </a:rPr>
              <a:t>YARA-lite + Sigma seeds · deterministic rule ideas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148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Consolas"/>
              </a:rPr>
              <a:t>IOCS</a:t>
            </a:r>
          </a:p>
        </p:txBody>
      </p:sp>
      <p:pic>
        <p:nvPicPr>
          <p:cNvPr id="18" name="Picture 17" descr="tab_ru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480560"/>
            <a:ext cx="3749039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89120" y="626364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6C9AA"/>
                </a:solidFill>
                <a:latin typeface="Segoe UI"/>
              </a:rPr>
              <a:t>IOC catalogue · SHA-256 · URL · IP · CVE · registry ·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THREAT ANALYSIS · SIDEBAR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10 tabs · every angle of the investigation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Consolas"/>
              </a:rPr>
              <a:t>TI-HITS</a:t>
            </a:r>
          </a:p>
        </p:txBody>
      </p:sp>
      <p:pic>
        <p:nvPicPr>
          <p:cNvPr id="6" name="Picture 5" descr="tab_ti_h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20"/>
            <a:ext cx="3749039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6C9AA"/>
                </a:solidFill>
                <a:latin typeface="Segoe UI"/>
              </a:rPr>
              <a:t>Threat-intel hits · VT / AbuseIPDB / OTX / abuse.ch (pending until keys wired)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Consolas"/>
              </a:rPr>
              <a:t>OSINT</a:t>
            </a:r>
          </a:p>
        </p:txBody>
      </p:sp>
      <p:pic>
        <p:nvPicPr>
          <p:cNvPr id="9" name="Picture 8" descr="tab_os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874520"/>
            <a:ext cx="3749039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36576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6C9AA"/>
                </a:solidFill>
                <a:latin typeface="Segoe UI"/>
              </a:rPr>
              <a:t>OSINT enrichment · reverse-DNS · WHOIS · pDNS ·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087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Consolas"/>
              </a:rPr>
              <a:t>AI</a:t>
            </a:r>
          </a:p>
        </p:txBody>
      </p:sp>
      <p:pic>
        <p:nvPicPr>
          <p:cNvPr id="12" name="Picture 11" descr="tab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874520"/>
            <a:ext cx="3749039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1040" y="36576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6C9AA"/>
                </a:solidFill>
                <a:latin typeface="Segoe UI"/>
              </a:rPr>
              <a:t>AI-verdict pane · optional LLM overlay (never inside evidence graph)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Consolas"/>
              </a:rPr>
              <a:t>FLOW</a:t>
            </a:r>
          </a:p>
        </p:txBody>
      </p:sp>
      <p:pic>
        <p:nvPicPr>
          <p:cNvPr id="15" name="Picture 14" descr="tab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80560"/>
            <a:ext cx="3749039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626364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6C9AA"/>
                </a:solidFill>
                <a:latin typeface="Segoe UI"/>
              </a:rPr>
              <a:t>Attack Flow · deterministic chain projection across kill-chain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148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Consolas"/>
              </a:rPr>
              <a:t>CHAIN</a:t>
            </a:r>
          </a:p>
        </p:txBody>
      </p:sp>
      <p:pic>
        <p:nvPicPr>
          <p:cNvPr id="18" name="Picture 17" descr="tab_ch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4480560"/>
            <a:ext cx="3749039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89120" y="626364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6C9AA"/>
                </a:solidFill>
                <a:latin typeface="Segoe UI"/>
              </a:rPr>
              <a:t>Decode chain · every stage's engine +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ROI · TIME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How much analyst time does NivXRay actually save?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EE6A8"/>
                </a:solidFill>
                <a:latin typeface="Consolas"/>
              </a:rP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7373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B26B"/>
                </a:solidFill>
                <a:latin typeface="Consolas"/>
              </a:rPr>
              <a:t>MANUAL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7373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EE6A8"/>
                </a:solidFill>
                <a:latin typeface="Consolas"/>
              </a:rPr>
              <a:t>NIVXRAY · NAIDE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7373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EE6A8"/>
                </a:solidFill>
                <a:latin typeface="Consolas"/>
              </a:rPr>
              <a:t>SPEED-UP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Threat-report URL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48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B26B"/>
                </a:solidFill>
                <a:latin typeface="Segoe UI"/>
              </a:rPr>
              <a:t>45-90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488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Segoe UI"/>
              </a:rPr>
              <a:t>2-4 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148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~1,200×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Obfuscated PS -e blob 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B26B"/>
                </a:solidFill>
                <a:latin typeface="Segoe UI"/>
              </a:rPr>
              <a:t>20-40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Segoe UI"/>
              </a:rPr>
              <a:t>3-5 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651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~400×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54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50-IOC defanged bundle sweep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154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B26B"/>
                </a:solidFill>
                <a:latin typeface="Segoe UI"/>
              </a:rPr>
              <a:t>30-60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154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Segoe UI"/>
              </a:rPr>
              <a:t>1-2 sec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154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~1,500×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500-row EDR CSV triage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576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B26B"/>
                </a:solidFill>
                <a:latin typeface="Segoe UI"/>
              </a:rPr>
              <a:t>2-4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6576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Segoe UI"/>
              </a:rPr>
              <a:t>4-6 sec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3657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~1,200×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60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Multi-stage command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1605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B26B"/>
                </a:solidFill>
                <a:latin typeface="Segoe UI"/>
              </a:rPr>
              <a:t>60-90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1605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Segoe UI"/>
              </a:rPr>
              <a:t>3-8 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4160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~900×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634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SIEM-alert full enrichment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663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B26B"/>
                </a:solidFill>
                <a:latin typeface="Segoe UI"/>
              </a:rPr>
              <a:t>20-40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663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E6A8"/>
                </a:solidFill>
                <a:latin typeface="Segoe UI"/>
              </a:rPr>
              <a:t>6-8 sec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4663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~250×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9496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6C9AA"/>
                </a:solidFill>
                <a:latin typeface="Segoe UI"/>
              </a:rPr>
              <a:t>Payback: 1 senior L2 analyst FTE ≈ USD 120-180K/yr. NivXRay recovers 40-60% of</a:t>
            </a:r>
          </a:p>
          <a:p>
            <a:pPr algn="l"/>
            <a:r>
              <a:rPr sz="1300" b="0">
                <a:solidFill>
                  <a:srgbClr val="96C9AA"/>
                </a:solidFill>
                <a:latin typeface="Segoe UI"/>
              </a:rPr>
              <a:t>L1/L2 triage hours — freeing analysts for hunt, tuning and IR-work that actually</a:t>
            </a:r>
          </a:p>
          <a:p>
            <a:pPr algn="l"/>
            <a:r>
              <a:rPr sz="1300" b="0">
                <a:solidFill>
                  <a:srgbClr val="96C9AA"/>
                </a:solidFill>
                <a:latin typeface="Segoe UI"/>
              </a:rPr>
              <a:t>requires human judgement.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WHERE IT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Industry scope · every SOC that reads bytes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247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Primary buyers: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Managed Security Service Providers (MSSPs) — 24×7 SOC teams with 40-200 analysts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Financial-services CSIRT · high-signal alerts · audit-heavy · needs reproducibility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Healthcare + government · air-gapped deployments where cloud LLM is a non-starter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Fortune-500 in-house SOCs · already have SIEM + EDR · missing the correlator/brief layer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IR consultancies · Mandiant / Palo Alto / SecureWorks style engagement teams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Integration surface: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Splunk · Sentinel · Chronicle · Elastic · QRadar · Sumo Logic · Devo · Panther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CrowdStrike · SentinelOne · Sophos · Symantec · Defender for Endpoint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SOAR: Phantom · XSOAR · Swimlane · Torq · Tines — NivXRay is called as an action node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Ticketing: ServiceNow · Jira SD · Zendesk — analyst brief attaches directly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Compliance-friendly by design: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SOC2 · ISO27001 · NIST-CSF · PCI-DSS · HIPAA — deterministic findings pass audit reviews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STIX 2.1 output · ATT&amp;CK-Navigator layer export · Sigma / YARA rule seeds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Why NivXRay wins against CyberChef, EDR-CoPilots and LLM tools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41640"/>
            <a:ext cx="137160" cy="137160"/>
          </a:xfrm>
          <a:prstGeom prst="ellipse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Zero LLM drift on the core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6916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Every finding survives a 145-test canonical determinism harness.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08568"/>
            <a:ext cx="137160" cy="137160"/>
          </a:xfrm>
          <a:prstGeom prst="ellipse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5856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Evidence provenance on every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258568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Analysts show WHERE each MITRE tag / IOC / verdict came from.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75496"/>
            <a:ext cx="137160" cy="137160"/>
          </a:xfrm>
          <a:prstGeom prst="ellipse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254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2-8 second full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825496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No spinning cursor. No 30-second LLM wait. Instant analyst context.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442424"/>
            <a:ext cx="137160" cy="137160"/>
          </a:xfrm>
          <a:prstGeom prst="ellipse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92424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Air-gap deployable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392424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Deterministic core has no cloud dependency. Runs on a laptop.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009352"/>
            <a:ext cx="137160" cy="137160"/>
          </a:xfrm>
          <a:prstGeom prst="ellipse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5935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Threat-report acquisition built-in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959352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IDA fetches Talos/Mandiant/MS articles and extracts evidence.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576280"/>
            <a:ext cx="137160" cy="137160"/>
          </a:xfrm>
          <a:prstGeom prst="ellipse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SHA-256 IOC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5262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MD5 / SHA-1 stripped at wire boundary — audit-clean by default.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143208"/>
            <a:ext cx="137160" cy="137160"/>
          </a:xfrm>
          <a:prstGeom prst="ellipse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9320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60+ registered capabilities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093208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9 adapters · 10 analyzers · thin router · trivially extensible.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710136"/>
            <a:ext cx="137160" cy="137160"/>
          </a:xfrm>
          <a:prstGeom prst="ellipse">
            <a:avLst/>
          </a:prstGeom>
          <a:solidFill>
            <a:srgbClr val="7E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6013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FE9"/>
                </a:solidFill>
                <a:latin typeface="Segoe UI"/>
              </a:rPr>
              <a:t>Deterministic + optional LLM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660136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6C9AA"/>
                </a:solidFill>
                <a:latin typeface="Segoe UI"/>
              </a:rPr>
              <a:t>LLM narrative sits ON TOP — never inside — the evidence graph.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What ships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247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Q1 2026 (in flight):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M0f Production Cutover — thin-router replaces legacy pipeline (equivalence-proven)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URL-acquisition beyond Talos — Sekoia, Trend Micro, Kaspersky, Palo Alto Unit 42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OCR-Lite (SHADOW) — extract code screenshots embedded in threat reports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Q2 2026: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SOAR playbook nodes — Torq, Tines, XSOAR, Splunk SOAR (Phantom)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Sysmon Event 22 (DNS) + Event 11 (File Create) adapter productionisation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Attack Chain auto-scroll + focus-follows-technique interactions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Q3-Q4 2026: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Multi-tenant SaaS · per-tenant OSINT keys · role-based investigation isolation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ATT&amp;CK Navigator live layer publishing · YARA/Sigma rule review loop</a:t>
            </a:r>
          </a:p>
          <a:p>
            <a:pPr algn="l"/>
            <a:r>
              <a:rPr sz="1300" b="0">
                <a:solidFill>
                  <a:srgbClr val="E6FFE9"/>
                </a:solidFill>
                <a:latin typeface="Segoe UI"/>
              </a:rPr>
              <a:t>•  Custom analyst 'critic' agents on the LLM overlay — non-blocking, non-drift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Live demo · try any input right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247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6FFE9"/>
                </a:solidFill>
                <a:latin typeface="Consolas"/>
              </a:rPr>
              <a:t>Preview:  https://greeting-app-5782.preview.emergentagent.com/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Consolas"/>
              </a:rPr>
              <a:t>Prod:     https://nivxray.nivxforge.com/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Consolas"/>
              </a:rPr>
              <a:t/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Consolas"/>
              </a:rPr>
              <a:t>Suggested test inputs: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Consolas"/>
              </a:rPr>
              <a:t>  1.  https://blog.talosintelligence.com/talos-ir-ransomware-engagements-...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Consolas"/>
              </a:rPr>
              <a:t>  2.  Any -EncodedCommand PowerShell blob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Consolas"/>
              </a:rPr>
              <a:t>  3.  A defanged IOC list from an incident report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Consolas"/>
              </a:rPr>
              <a:t>  4.  A Sysmon Event 1 XML block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Consolas"/>
              </a:rPr>
              <a:t>  5.  A Sophos / SentinelOne CSV export row</a:t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Consolas"/>
              </a:rPr>
              <a:t/>
            </a:r>
          </a:p>
          <a:p>
            <a:pPr algn="l"/>
            <a:r>
              <a:rPr sz="1500" b="0">
                <a:solidFill>
                  <a:srgbClr val="E6FFE9"/>
                </a:solidFill>
                <a:latin typeface="Consolas"/>
              </a:rPr>
              <a:t>For each: click AUTO INVESTIGATE. Scroll down. Read the Deterministic Analyst Brief.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EE6A8"/>
                </a:solidFill>
                <a:latin typeface="Consola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FFE9"/>
                </a:solidFill>
                <a:latin typeface="Segoe UI"/>
              </a:rPr>
              <a:t>Regenerate this deck · Claude &amp; ChatGPT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247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Prompt (Claude / GPT — paste and iterate):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"You are a security-product presales architect. Produce a 20-slide deck for NivXRay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(NAIDE — Autonomous Investigation &amp; Deterministic Engine), a deterministic SOC-analyst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engine that takes any pasted evidence (URL / PowerShell / CSV / Sysmon / IOC list) and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returns a full ticket-ready analyst brief in 2-8 seconds.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Cover: (1) SOC pain today, (2) NAIDE elevator pitch, (3) Deterministic vs LLM-drift,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(4) 6-pillar architecture (IUE → IDA → DIE → ICE → IEDDE → L4), (5) components,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(6) Deployment Model 1 (log-source enrichment upstream of SIEM/EDR),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(7) Deployment Model 2 (SIEM/EDR alert → NAIDE → analyst),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(8) 6 use cases with INPUT screenshot + OUTPUT/MITRE-graph/Executive-Summary shots +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elapsed time, (9) ROI table showing 250-1500× speed-up vs manual analyst,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(10) industry-fit + integrations (Splunk/Sentinel/Chronicle/SOAR),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(11) differentiators, (12) roadmap, (13) demo URL + regen prompt appendix.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Tone: technical, evidence-driven, no hyperbole. Palette: matrix-green on near-black.</a:t>
            </a:r>
          </a:p>
          <a:p>
            <a:pPr algn="l"/>
            <a:r>
              <a:rPr sz="1200" b="0">
                <a:solidFill>
                  <a:srgbClr val="E6FFE9"/>
                </a:solidFill>
                <a:latin typeface="Consolas"/>
              </a:rPr>
              <a:t>Font: Consolas for code, Segoe UI for body. Every claim must be verifiable from live UI."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8B63"/>
                </a:solidFill>
                <a:latin typeface="Consolas"/>
              </a:rPr>
              <a:t>NivXRay · NAIDE · Deterministic Analyst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8B63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