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01168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>
                <a:solidFill>
                  <a:srgbClr val="E6EDF3"/>
                </a:solidFill>
                <a:latin typeface="Segoe UI Semibold"/>
              </a:rPr>
              <a:t>NivXRay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7EE787"/>
                </a:solidFill>
                <a:latin typeface="Segoe UI Semibold"/>
              </a:rPr>
              <a:t>Evidence-Provenanced Security Investigation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319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8B96A5"/>
                </a:solidFill>
                <a:latin typeface="Segoe UI"/>
              </a:rPr>
              <a:t>Turn security inputs into evidence-provenanced investigations and explainable judgments.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3035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8B96A5"/>
                </a:solidFill>
                <a:latin typeface="Segoe UI Semibold"/>
              </a:rPr>
              <a:t>Customer-Deployed · Technical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6235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6A5"/>
                </a:solidFill>
                <a:latin typeface="Segoe UI"/>
              </a:rPr>
              <a:t>Version 1.0 · 2026-08-11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457200"/>
          </a:xfrm>
          <a:prstGeom prst="rect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B96A5"/>
                </a:solidFill>
                <a:latin typeface="Segoe UI Semibold"/>
              </a:rPr>
              <a:t>EXECUTIVE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6EDF3"/>
                </a:solidFill>
                <a:latin typeface="Segoe UI Semibold"/>
              </a:rPr>
              <a:t>What NivXRay Delivers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B96A5"/>
                </a:solidFill>
                <a:latin typeface="Segoe UI"/>
              </a:rPr>
              <a:t>For customer-hosted security operations · single platform, three pillars of value.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03120"/>
            <a:ext cx="3657600" cy="384048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37744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7EE787"/>
                </a:solidFill>
                <a:latin typeface="Segoe UI Semibold"/>
              </a:rPr>
              <a:t>Evidence over inference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108960"/>
            <a:ext cx="32004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6EDF3"/>
                </a:solidFill>
                <a:latin typeface="Segoe UI"/>
              </a:rPr>
              <a:t>Every ATT&amp;CK technique NivXRay emits is traceable to the exact rule, field, and observed value that triggered it. No unexplainable AI verdicts. No hallucinated attributions.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2103120"/>
            <a:ext cx="3657600" cy="384048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37744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7EE787"/>
                </a:solidFill>
                <a:latin typeface="Segoe UI Semibold"/>
              </a:rPr>
              <a:t>Analyst-centric investigation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3108960"/>
            <a:ext cx="32004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6EDF3"/>
                </a:solidFill>
                <a:latin typeface="Segoe UI"/>
              </a:rPr>
              <a:t>One Workspace: paste an artifact, get a decoded chain, Timeline, Query/Hunt, MITRE Attack Chain, Verdict, and a signed report. Purpose-built for a Level-2 analyst, not another SIEM console.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2103120"/>
            <a:ext cx="3657600" cy="384048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1080" y="237744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7EE787"/>
                </a:solidFill>
                <a:latin typeface="Segoe UI Semibold"/>
              </a:rPr>
              <a:t>Deploys inside your environment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3108960"/>
            <a:ext cx="32004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6EDF3"/>
                </a:solidFill>
                <a:latin typeface="Segoe UI"/>
              </a:rPr>
              <a:t>Runs entirely in your infrastructure. Your data, your MongoDB, your LLM key (or none). No telemetry to any vendor.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B96A5"/>
                </a:solidFill>
                <a:latin typeface="Segoe UI"/>
              </a:rPr>
              <a:t>Position: NivXRay is not a SIEM, EDR, or XDR. It is the evidence-provenanced investigation layer that consumes analyst inputs and produces defensible judgments.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B96A5"/>
                </a:solidFill>
                <a:latin typeface="Segoe UI"/>
              </a:rPr>
              <a:t>NivXRay · Customer Technical Deck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B96A5"/>
                </a:solidFill>
                <a:latin typeface="Segoe U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6446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B96A5"/>
                </a:solidFill>
                <a:latin typeface="Segoe UI"/>
              </a:rPr>
              <a:t>Confidential · Draft · 2026-08-11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457200"/>
          </a:xfrm>
          <a:prstGeom prst="rect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B96A5"/>
                </a:solidFill>
                <a:latin typeface="Segoe UI Semibold"/>
              </a:rPr>
              <a:t>EXECUTIVE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6EDF3"/>
                </a:solidFill>
                <a:latin typeface="Segoe UI Semibold"/>
              </a:rPr>
              <a:t>The Problem We Address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B96A5"/>
                </a:solidFill>
                <a:latin typeface="Segoe UI"/>
              </a:rPr>
              <a:t>Modern SOC tools generate more claims than they can defend.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03120"/>
            <a:ext cx="5394960" cy="1874519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33172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79C0FF"/>
                </a:solidFill>
                <a:latin typeface="Segoe UI Semibold"/>
              </a:rPr>
              <a:t>Hallucinated attribution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80360"/>
            <a:ext cx="4846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E6EDF3"/>
                </a:solidFill>
                <a:latin typeface="Segoe UI"/>
              </a:rPr>
              <a:t>Analyst tools emit 'this is malware' without showing why. Post-incident review cannot reproduce or defend the finding.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103120"/>
            <a:ext cx="5394960" cy="1874519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33172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79C0FF"/>
                </a:solidFill>
                <a:latin typeface="Segoe UI Semibold"/>
              </a:rPr>
              <a:t>Analyst context loss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880360"/>
            <a:ext cx="4846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E6EDF3"/>
                </a:solidFill>
                <a:latin typeface="Segoe UI"/>
              </a:rPr>
              <a:t>Investigators paste artifacts across 6-8 tools; evidence, hypotheses, and decode chains never live in one place.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206240"/>
            <a:ext cx="5394960" cy="1874519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43484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79C0FF"/>
                </a:solidFill>
                <a:latin typeface="Segoe UI Semibold"/>
              </a:rPr>
              <a:t>SIEM ≠ investigation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983480"/>
            <a:ext cx="4846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E6EDF3"/>
                </a:solidFill>
                <a:latin typeface="Segoe UI"/>
              </a:rPr>
              <a:t>SIEMs surface alerts. They do not decode payloads, understand ATT&amp;CK context, or produce defensible investigation reports.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4206240"/>
            <a:ext cx="5394960" cy="1874519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443484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79C0FF"/>
                </a:solidFill>
                <a:latin typeface="Segoe UI Semibold"/>
              </a:rPr>
              <a:t>Compliance-grade explainability gap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983480"/>
            <a:ext cx="4846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E6EDF3"/>
                </a:solidFill>
                <a:latin typeface="Segoe UI"/>
              </a:rPr>
              <a:t>Regulators and incident-response leads increasingly ask 'show me the evidence chain.' Most detection tools cannot answer.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B96A5"/>
                </a:solidFill>
                <a:latin typeface="Segoe UI"/>
              </a:rPr>
              <a:t>NivXRay · Customer Technical Deck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B96A5"/>
                </a:solidFill>
                <a:latin typeface="Segoe U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6446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B96A5"/>
                </a:solidFill>
                <a:latin typeface="Segoe UI"/>
              </a:rPr>
              <a:t>Confidential · Draft · 2026-08-11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457200"/>
          </a:xfrm>
          <a:prstGeom prst="rect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B96A5"/>
                </a:solidFill>
                <a:latin typeface="Segoe UI Semibold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6EDF3"/>
                </a:solidFill>
                <a:latin typeface="Segoe UI Semibold"/>
              </a:rPr>
              <a:t>What NivXRay Is, 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11680"/>
            <a:ext cx="107899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E6EDF3"/>
                </a:solidFill>
                <a:latin typeface="Segoe UI Semibold"/>
              </a:rPr>
              <a:t>“NivXRay is a browser-based, evidence-provenanced security investigation Workspace that transforms pasted or uploaded analyst inputs into evidence-gated MITRE ATT&amp;CK mappings, Timelines, Query/Hunt views, Attack Chain diagrams, and signed downloadable reports.”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0233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EE787"/>
                </a:solidFill>
                <a:latin typeface="Segoe UI Semibold"/>
              </a:rPr>
              <a:t>The six pillars of the product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480560"/>
            <a:ext cx="1737360" cy="155448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61772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7EE787"/>
                </a:solidFill>
                <a:latin typeface="Segoe UI Semibol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16636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E6EDF3"/>
                </a:solidFill>
                <a:latin typeface="Segoe UI Semibold"/>
              </a:rPr>
              <a:t>Input Understanding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48640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8B96A5"/>
                </a:solidFill>
                <a:latin typeface="Segoe UI"/>
              </a:rPr>
              <a:t>What did the analyst give us?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4480560"/>
            <a:ext cx="1737360" cy="155448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0" y="461772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7EE787"/>
                </a:solidFill>
                <a:latin typeface="Segoe UI Semi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516636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E6EDF3"/>
                </a:solidFill>
                <a:latin typeface="Segoe UI Semibold"/>
              </a:rPr>
              <a:t>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548640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8B96A5"/>
                </a:solidFill>
                <a:latin typeface="Segoe UI"/>
              </a:rPr>
              <a:t>What does the input contain?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4480560"/>
            <a:ext cx="1737360" cy="155448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461772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7EE787"/>
                </a:solidFill>
                <a:latin typeface="Segoe UI Semibold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516636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E6EDF3"/>
                </a:solidFill>
                <a:latin typeface="Segoe UI Semibold"/>
              </a:rPr>
              <a:t>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548640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8B96A5"/>
                </a:solidFill>
                <a:latin typeface="Segoe UI"/>
              </a:rPr>
              <a:t>What did we actually observe?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59" y="4480560"/>
            <a:ext cx="1737360" cy="155448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59" y="461772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7EE787"/>
                </a:solidFill>
                <a:latin typeface="Segoe UI Semibold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799" y="516636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E6EDF3"/>
                </a:solidFill>
                <a:latin typeface="Segoe UI Semibold"/>
              </a:rPr>
              <a:t>Investigation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799" y="548640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8B96A5"/>
                </a:solidFill>
                <a:latin typeface="Segoe UI"/>
              </a:rPr>
              <a:t>How are those observations related?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3879" y="4480560"/>
            <a:ext cx="1737360" cy="155448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3879" y="461772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7EE787"/>
                </a:solidFill>
                <a:latin typeface="Segoe UI Semibold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19" y="516636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E6EDF3"/>
                </a:solidFill>
                <a:latin typeface="Segoe UI Semibold"/>
              </a:rPr>
              <a:t>Judgment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19" y="548640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8B96A5"/>
                </a:solidFill>
                <a:latin typeface="Segoe UI"/>
              </a:rPr>
              <a:t>What does the evidence mean?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58400" y="4480560"/>
            <a:ext cx="1737360" cy="155448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0" y="461772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7EE787"/>
                </a:solidFill>
                <a:latin typeface="Segoe UI Semibold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40" y="516636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E6EDF3"/>
                </a:solidFill>
                <a:latin typeface="Segoe UI Semibold"/>
              </a:rPr>
              <a:t>Analyst Experience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49840" y="548640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8B96A5"/>
                </a:solidFill>
                <a:latin typeface="Segoe UI"/>
              </a:rPr>
              <a:t>How is it consumed?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B96A5"/>
                </a:solidFill>
                <a:latin typeface="Segoe UI"/>
              </a:rPr>
              <a:t>NivXRay · Customer Technical Deck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B96A5"/>
                </a:solidFill>
                <a:latin typeface="Segoe U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6446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B96A5"/>
                </a:solidFill>
                <a:latin typeface="Segoe UI"/>
              </a:rPr>
              <a:t>Confidential · Draft · 2026-08-11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457200"/>
          </a:xfrm>
          <a:prstGeom prst="rect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B96A5"/>
                </a:solidFill>
                <a:latin typeface="Segoe UI Semibold"/>
              </a:rPr>
              <a:t>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6EDF3"/>
                </a:solidFill>
                <a:latin typeface="Segoe UI Semibold"/>
              </a:rPr>
              <a:t>What NivXRay Can Analyze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B96A5"/>
                </a:solidFill>
                <a:latin typeface="Segoe UI"/>
              </a:rPr>
              <a:t>Full transparency: LIVE capabilities on the left; roadmap on the right.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20240"/>
            <a:ext cx="5486400" cy="429768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EE787"/>
                </a:solidFill>
                <a:latin typeface="Segoe UI Semibold"/>
              </a:rPr>
              <a:t>LIVE TODAY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05740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0F1218"/>
          </a:solidFill>
          <a:ln w="9525">
            <a:solidFill>
              <a:srgbClr val="7EE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000" b="1">
                <a:solidFill>
                  <a:srgbClr val="7EE787"/>
                </a:solidFill>
                <a:latin typeface="Segoe UI Semibold"/>
              </a:rPr>
              <a:t>🟢 SHIPPING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14600"/>
            <a:ext cx="52120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50">
                <a:solidFill>
                  <a:srgbClr val="E6EDF3"/>
                </a:solidFill>
                <a:latin typeface="Segoe UI"/>
              </a:rPr>
              <a:t>• Command lines (PowerShell, cmd, bash, VBS, JS, Python)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E6EDF3"/>
                </a:solidFill>
                <a:latin typeface="Segoe UI"/>
              </a:rPr>
              <a:t>• Multi-layer decoding (base64/hex/URL/rot13/brotli/lzma/AES/RC4 · 200+ decoders)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E6EDF3"/>
                </a:solidFill>
                <a:latin typeface="Segoe UI"/>
              </a:rPr>
              <a:t>• PowerShell AST + deobfuscation (encoded, alias, backtick unwrap)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E6EDF3"/>
                </a:solidFill>
                <a:latin typeface="Segoe UI"/>
              </a:rPr>
              <a:t>• Documents (PDF, DOCX, PPTX, XLSX, EML) — text extraction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E6EDF3"/>
                </a:solidFill>
                <a:latin typeface="Segoe UI"/>
              </a:rPr>
              <a:t>• PE / shellcode static analysis (pefile · capstone disassembly)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E6EDF3"/>
                </a:solidFill>
                <a:latin typeface="Segoe UI"/>
              </a:rPr>
              <a:t>• IOC extraction &amp; reputation (URL, IP, domain, hash, email)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E6EDF3"/>
                </a:solidFill>
                <a:latin typeface="Segoe UI"/>
              </a:rPr>
              <a:t>• Small tabular EDR CSVs (Symantec SEP shape)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E6EDF3"/>
                </a:solidFill>
                <a:latin typeface="Segoe UI"/>
              </a:rPr>
              <a:t>• Evidence-gated MITRE ATT&amp;CK mapping (P0.2)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E6EDF3"/>
                </a:solidFill>
                <a:latin typeface="Segoe UI"/>
              </a:rPr>
              <a:t>• 14-lane Attack Chain diagram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E6EDF3"/>
                </a:solidFill>
                <a:latin typeface="Segoe UI"/>
              </a:rPr>
              <a:t>• Timeline projection &amp; Query/Hunt filtering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E6EDF3"/>
                </a:solidFill>
                <a:latin typeface="Segoe UI"/>
              </a:rPr>
              <a:t>• Deterministic verdict + Attack Story + Reports (MD/STIX/PDF)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E6EDF3"/>
                </a:solidFill>
                <a:latin typeface="Segoe UI"/>
              </a:rPr>
              <a:t>• 8 OSINT feeds (65K+ IOCs) · TAXII 2.1 push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920240"/>
            <a:ext cx="5486400" cy="429768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0574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0D05E"/>
                </a:solidFill>
                <a:latin typeface="Segoe UI Semibold"/>
              </a:rPr>
              <a:t>UNDER VALIDATION / ROADMAP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104120" y="205740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0F1218"/>
          </a:solidFill>
          <a:ln w="9525">
            <a:solidFill>
              <a:srgbClr val="F0D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000" b="1">
                <a:solidFill>
                  <a:srgbClr val="F0D05E"/>
                </a:solidFill>
                <a:latin typeface="Segoe UI Semibold"/>
              </a:rPr>
              <a:t>🟡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514600"/>
            <a:ext cx="52120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50">
                <a:solidFill>
                  <a:srgbClr val="C9D1D9"/>
                </a:solidFill>
                <a:latin typeface="Segoe UI"/>
              </a:rPr>
              <a:t>• Server-side large-file ingestion (removes 256 KB cap)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C9D1D9"/>
                </a:solidFill>
                <a:latin typeface="Segoe UI"/>
              </a:rPr>
              <a:t>• Sysmon / EVTX telemetry adapter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C9D1D9"/>
                </a:solidFill>
                <a:latin typeface="Segoe UI"/>
              </a:rPr>
              <a:t>• Broader EDR/XDR ingest (JSON/NDJSON/CSV/Syslog/Webhook)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C9D1D9"/>
                </a:solidFill>
                <a:latin typeface="Segoe UI"/>
              </a:rPr>
              <a:t>• Investigation Knowledge Graph (13 nodes · 14 edges)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C9D1D9"/>
                </a:solidFill>
                <a:latin typeface="Segoe UI"/>
              </a:rPr>
              <a:t>• Verdict Engine v3 with adaptive weight profiles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C9D1D9"/>
                </a:solidFill>
                <a:latin typeface="Segoe UI"/>
              </a:rPr>
              <a:t>• Event → Process → Chain → Device → Incident correlation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C9D1D9"/>
                </a:solidFill>
                <a:latin typeface="Segoe UI"/>
              </a:rPr>
              <a:t>• Cross-event &amp; cross-case correlation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C9D1D9"/>
                </a:solidFill>
                <a:latin typeface="Segoe UI"/>
              </a:rPr>
              <a:t>• AI-clustered TI campaigns (e.g. via TweetFeed)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C9D1D9"/>
                </a:solidFill>
                <a:latin typeface="Segoe UI"/>
              </a:rPr>
              <a:t>• Deterministic PDF re-render CI gate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C9D1D9"/>
                </a:solidFill>
                <a:latin typeface="Segoe UI"/>
              </a:rPr>
              <a:t>• Air-gapped LLM deployment path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093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6A5"/>
                </a:solidFill>
                <a:latin typeface="Segoe UI"/>
              </a:rPr>
              <a:t>Everything in the right column is architecturally coded and shadow-observed today; promotion follows an evidence-driven replay/validation gate — never a flag flip alone.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B96A5"/>
                </a:solidFill>
                <a:latin typeface="Segoe UI"/>
              </a:rPr>
              <a:t>NivXRay · Customer Technical Deck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B96A5"/>
                </a:solidFill>
                <a:latin typeface="Segoe U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6446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B96A5"/>
                </a:solidFill>
                <a:latin typeface="Segoe UI"/>
              </a:rPr>
              <a:t>Confidential · Draft · 2026-08-11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457200"/>
          </a:xfrm>
          <a:prstGeom prst="rect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B96A5"/>
                </a:solidFill>
                <a:latin typeface="Segoe UI Semibold"/>
              </a:rPr>
              <a:t>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6EDF3"/>
                </a:solidFill>
                <a:latin typeface="Segoe UI Semibold"/>
              </a:rPr>
              <a:t>How an Investigation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B96A5"/>
                </a:solidFill>
                <a:latin typeface="Segoe UI"/>
              </a:rPr>
              <a:t>A single analyst paste flows through the six pillars to a defensible verdict.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965960"/>
            <a:ext cx="457200" cy="457200"/>
          </a:xfrm>
          <a:prstGeom prst="ellipse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1218"/>
                </a:solidFill>
                <a:latin typeface="Segoe UI Semibo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984248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E6EDF3"/>
                </a:solidFill>
                <a:latin typeface="Segoe UI Semibold"/>
              </a:rPr>
              <a:t>Analyst pastes / uploads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25856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B96A5"/>
                </a:solidFill>
                <a:latin typeface="Segoe UI"/>
              </a:rPr>
              <a:t>Command line · script · document · CSV · IOC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587752"/>
            <a:ext cx="457200" cy="457200"/>
          </a:xfrm>
          <a:prstGeom prst="ellipse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1218"/>
                </a:solidFill>
                <a:latin typeface="Segoe UI Semibol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60604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E6EDF3"/>
                </a:solidFill>
                <a:latin typeface="Segoe UI Semibold"/>
              </a:rPr>
              <a:t>Input Understanding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88036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B96A5"/>
                </a:solidFill>
                <a:latin typeface="Segoe UI"/>
              </a:rPr>
              <a:t>Classifies language, encoding, decoding decision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209544"/>
            <a:ext cx="457200" cy="457200"/>
          </a:xfrm>
          <a:prstGeom prst="ellipse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1218"/>
                </a:solidFill>
                <a:latin typeface="Segoe UI Semi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227832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E6EDF3"/>
                </a:solidFill>
                <a:latin typeface="Segoe UI Semibold"/>
              </a:rPr>
              <a:t>Decode &amp; analyze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502152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B96A5"/>
                </a:solidFill>
                <a:latin typeface="Segoe UI"/>
              </a:rPr>
              <a:t>200+ deterministic decoders + AST + semantic engine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3831335"/>
            <a:ext cx="457200" cy="457200"/>
          </a:xfrm>
          <a:prstGeom prst="ellipse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1218"/>
                </a:solidFill>
                <a:latin typeface="Segoe UI Semibold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849623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E6EDF3"/>
                </a:solidFill>
                <a:latin typeface="Segoe UI Semibold"/>
              </a:rPr>
              <a:t>Extract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123943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B96A5"/>
                </a:solidFill>
                <a:latin typeface="Segoe UI"/>
              </a:rPr>
              <a:t>IOCs · LOLBAS · behaviors · artifacts — with provenance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4453128"/>
            <a:ext cx="457200" cy="457200"/>
          </a:xfrm>
          <a:prstGeom prst="ellipse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1218"/>
                </a:solidFill>
                <a:latin typeface="Segoe UI Semibold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471416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E6EDF3"/>
                </a:solidFill>
                <a:latin typeface="Segoe UI Semibold"/>
              </a:rPr>
              <a:t>Map to ATT&amp;CK (P0.2 gate)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745736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B96A5"/>
                </a:solidFill>
                <a:latin typeface="Segoe UI"/>
              </a:rPr>
              <a:t>Emit MITRE only when {source, rule, field, value, ref} exist</a:t>
            </a:r>
          </a:p>
        </p:txBody>
      </p:sp>
      <p:sp>
        <p:nvSpPr>
          <p:cNvPr id="22" name="Oval 21"/>
          <p:cNvSpPr/>
          <p:nvPr/>
        </p:nvSpPr>
        <p:spPr>
          <a:xfrm>
            <a:off x="822960" y="5074920"/>
            <a:ext cx="457200" cy="457200"/>
          </a:xfrm>
          <a:prstGeom prst="ellipse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1218"/>
                </a:solidFill>
                <a:latin typeface="Segoe UI Semibold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5093208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E6EDF3"/>
                </a:solidFill>
                <a:latin typeface="Segoe UI Semibold"/>
              </a:rPr>
              <a:t>Project into Workspace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536752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B96A5"/>
                </a:solidFill>
                <a:latin typeface="Segoe UI"/>
              </a:rPr>
              <a:t>Timeline · Attack Chain · Query · Verdict · Report</a:t>
            </a:r>
          </a:p>
        </p:txBody>
      </p:sp>
      <p:sp>
        <p:nvSpPr>
          <p:cNvPr id="25" name="Oval 24"/>
          <p:cNvSpPr/>
          <p:nvPr/>
        </p:nvSpPr>
        <p:spPr>
          <a:xfrm>
            <a:off x="822960" y="5696712"/>
            <a:ext cx="457200" cy="457200"/>
          </a:xfrm>
          <a:prstGeom prst="ellipse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1218"/>
                </a:solidFill>
                <a:latin typeface="Segoe UI Semibold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571500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E6EDF3"/>
                </a:solidFill>
                <a:latin typeface="Segoe UI Semibold"/>
              </a:rPr>
              <a:t>Analyst reviews &amp; saves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59893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B96A5"/>
                </a:solidFill>
                <a:latin typeface="Segoe UI"/>
              </a:rPr>
              <a:t>Case Vault · corrections · exports · TAXII push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1965960"/>
            <a:ext cx="3520440" cy="420624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60" y="21031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EE787"/>
                </a:solidFill>
                <a:latin typeface="Segoe UI Semibold"/>
              </a:rPr>
              <a:t>Key property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2468880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Segoe UI Semibold"/>
              </a:rPr>
              <a:t>The evidence chain is the audit trail.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3566160"/>
            <a:ext cx="324612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C9D1D9"/>
                </a:solidFill>
                <a:latin typeface="Segoe UI"/>
              </a:rPr>
              <a:t>Every MITRE technique on the analyst's screen carries the exact rule, field, and observed value that triggered it. Absence of provenance ⇒ the technique is silently dropped, not fabricated.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B96A5"/>
                </a:solidFill>
                <a:latin typeface="Segoe UI"/>
              </a:rPr>
              <a:t>NivXRay · Customer Technical Deck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B96A5"/>
                </a:solidFill>
                <a:latin typeface="Segoe U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6446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B96A5"/>
                </a:solidFill>
                <a:latin typeface="Segoe UI"/>
              </a:rPr>
              <a:t>Confidential · Draft · 2026-08-11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457200"/>
          </a:xfrm>
          <a:prstGeom prst="rect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B96A5"/>
                </a:solidFill>
                <a:latin typeface="Segoe UI Semibold"/>
              </a:rPr>
              <a:t>DIFFERENTIATOR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6EDF3"/>
                </a:solidFill>
                <a:latin typeface="Segoe UI Semibold"/>
              </a:rPr>
              <a:t>Evidence-Provenance is Built In, Not Bolted 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B96A5"/>
                </a:solidFill>
                <a:latin typeface="Segoe UI"/>
              </a:rPr>
              <a:t>The P0.2 evidence chain: 30 CI-locked tests enforce no evidence → no MITRE.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6858000" cy="4114800"/>
          </a:xfrm>
          <a:prstGeom prst="roundRect">
            <a:avLst>
              <a:gd name="adj" fmla="val 8000"/>
            </a:avLst>
          </a:prstGeom>
          <a:solidFill>
            <a:srgbClr val="0B1017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5800" y="2045960"/>
            <a:ext cx="6698000" cy="39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>
                <a:solidFill>
                  <a:srgbClr val="C9D1D9"/>
                </a:solidFill>
                <a:latin typeface="Consolas"/>
              </a:rPr>
              <a:t># Every MITRE technique NivXRay emits carries: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C9D1D9"/>
                </a:solidFill>
                <a:latin typeface="Consolas"/>
              </a:rPr>
              <a:t>{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C9D1D9"/>
                </a:solidFill>
                <a:latin typeface="Consolas"/>
              </a:rPr>
              <a:t>  "technique":     "T1059.001 · PowerShell",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C9D1D9"/>
                </a:solidFill>
                <a:latin typeface="Consolas"/>
              </a:rPr>
              <a:t>  "source":        "die.narrative",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C9D1D9"/>
                </a:solidFill>
                <a:latin typeface="Consolas"/>
              </a:rPr>
              <a:t>  "event_or_rule": "powershell_encodedcommand_v3",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C9D1D9"/>
                </a:solidFill>
                <a:latin typeface="Consolas"/>
              </a:rPr>
              <a:t>  "field":         "decoded_layer_2",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C9D1D9"/>
                </a:solidFill>
                <a:latin typeface="Consolas"/>
              </a:rPr>
              <a:t>  "observed_value": "IEX (New-Object Net.WebClient).DownloadString(...)",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C9D1D9"/>
                </a:solidFill>
                <a:latin typeface="Consolas"/>
              </a:rPr>
              <a:t>  "evidence_ref":  "artifact://abc123#offset=42-118"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C9D1D9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C9D1D9"/>
                </a:solidFill>
                <a:latin typeface="Consolas"/>
              </a:rPr>
              <a:t/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C9D1D9"/>
                </a:solidFill>
                <a:latin typeface="Consolas"/>
              </a:rPr>
              <a:t># If provenance is absent, the technique is REJECTED.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C9D1D9"/>
                </a:solidFill>
                <a:latin typeface="Consolas"/>
              </a:rPr>
              <a:t># No exceptions. Regression-locked by 30 tests.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1965960"/>
            <a:ext cx="3977639" cy="914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20756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EE787"/>
                </a:solidFill>
                <a:latin typeface="Segoe UI Semibold"/>
              </a:rPr>
              <a:t>Defensibility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237744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9D1D9"/>
                </a:solidFill>
                <a:latin typeface="Segoe UI"/>
              </a:rPr>
              <a:t>Every claim on the screen can be replayed back to the exact input span.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3017520"/>
            <a:ext cx="3977639" cy="914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60" y="312724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EE787"/>
                </a:solidFill>
                <a:latin typeface="Segoe UI Semibold"/>
              </a:rPr>
              <a:t>Compliance-ready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342900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9D1D9"/>
                </a:solidFill>
                <a:latin typeface="Segoe UI"/>
              </a:rPr>
              <a:t>Auditors and regulators can walk the chain without vendor cooperation.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4069079"/>
            <a:ext cx="3977639" cy="914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9560" y="4178807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EE787"/>
                </a:solidFill>
                <a:latin typeface="Segoe UI Semibold"/>
              </a:rPr>
              <a:t>No hallucination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4480559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9D1D9"/>
                </a:solidFill>
                <a:latin typeface="Segoe UI"/>
              </a:rPr>
              <a:t>LLM narrate is additive prose; it never introduces new techniques.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5120640"/>
            <a:ext cx="3977639" cy="914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09560" y="523036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EE787"/>
                </a:solidFill>
                <a:latin typeface="Segoe UI Semibold"/>
              </a:rPr>
              <a:t>Deterministic reports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553212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9D1D9"/>
                </a:solidFill>
                <a:latin typeface="Segoe UI"/>
              </a:rPr>
              <a:t>Same envelope → same bytes → same SHA-256. Markdown &amp; STIX CI-locked.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B96A5"/>
                </a:solidFill>
                <a:latin typeface="Segoe UI"/>
              </a:rPr>
              <a:t>NivXRay · Customer Technical Deck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B96A5"/>
                </a:solidFill>
                <a:latin typeface="Segoe UI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6446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B96A5"/>
                </a:solidFill>
                <a:latin typeface="Segoe UI"/>
              </a:rPr>
              <a:t>Confidential · Draft · 2026-08-11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457200"/>
          </a:xfrm>
          <a:prstGeom prst="rect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B96A5"/>
                </a:solidFill>
                <a:latin typeface="Segoe UI Semibold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6EDF3"/>
                </a:solidFill>
                <a:latin typeface="Segoe UI Semibold"/>
              </a:rPr>
              <a:t>Reference Architecture — LIVE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B96A5"/>
                </a:solidFill>
                <a:latin typeface="Segoe UI"/>
              </a:rPr>
              <a:t>Everything below runs inside your environment.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20240"/>
            <a:ext cx="11064240" cy="86868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EE787"/>
                </a:solidFill>
                <a:latin typeface="Segoe UI Semibold"/>
              </a:rPr>
              <a:t>Analyst UI (React 19)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774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  <a:latin typeface="Segoe UI"/>
              </a:rPr>
              <a:t>WorkspacePage · Timeline · Query · Attack Chain · Verdict · Reports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926080"/>
            <a:ext cx="11064240" cy="86868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06324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9C0FF"/>
                </a:solidFill>
                <a:latin typeface="Segoe UI Semibold"/>
              </a:rPr>
              <a:t>Backend API (FastAPI · 77 routers)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3832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  <a:latin typeface="Segoe UI"/>
              </a:rPr>
              <a:t>Authentication · Investigation · DIE · Analyze · Threat-Intel · Reports · Lab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931920"/>
            <a:ext cx="5486400" cy="100584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6908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9C0FF"/>
                </a:solidFill>
                <a:latin typeface="Segoe UI Semibold"/>
              </a:rPr>
              <a:t>Analysis Services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8912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  <a:latin typeface="Segoe UI"/>
              </a:rPr>
              <a:t>IUE · Decoders · Semantic (PS AST) · MITRE evidence chain · IOC extractor · IDA · LOLBAS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931920"/>
            <a:ext cx="5486400" cy="100584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406908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9C0FF"/>
                </a:solidFill>
                <a:latin typeface="Segoe UI Semibold"/>
              </a:rPr>
              <a:t>Projection Services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38912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  <a:latin typeface="Segoe UI"/>
              </a:rPr>
              <a:t>Canonical SSOT · Verdict · Attack Chain · Attack Story · Timeline · Query · Reports (Markdown/STIX/PDF)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074920"/>
            <a:ext cx="11064240" cy="86868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2120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0D05E"/>
                </a:solidFill>
                <a:latin typeface="Segoe UI Semibold"/>
              </a:rPr>
              <a:t>MongoDB (single database, inside your environment)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53212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  <a:latin typeface="Segoe UI"/>
              </a:rPr>
              <a:t>Cases · Investigations · IOCs (65K+) · Corrections · Documents (GridFS) · Feed sync history · Lab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98932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6126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7B72"/>
                </a:solidFill>
                <a:latin typeface="Segoe UI Semibold"/>
              </a:rPr>
              <a:t>Outbound (analyst-controlled)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644652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  <a:latin typeface="Segoe UI"/>
              </a:rPr>
              <a:t>OSINT feed pull (URLhaus · OTX · AbuseIPDB · ThreatFox · MB · Talos · CINS · MalwareBytes) · LLM narrate (your key) · TAXII push · URL enrichment (SSRF-guarded)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B96A5"/>
                </a:solidFill>
                <a:latin typeface="Segoe UI"/>
              </a:rPr>
              <a:t>NivXRay · Customer Technical Deck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B96A5"/>
                </a:solidFill>
                <a:latin typeface="Segoe UI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6446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B96A5"/>
                </a:solidFill>
                <a:latin typeface="Segoe UI"/>
              </a:rPr>
              <a:t>Confidential · Draft · 2026-08-11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457200"/>
          </a:xfrm>
          <a:prstGeom prst="rect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B96A5"/>
                </a:solidFill>
                <a:latin typeface="Segoe UI Semibold"/>
              </a:rPr>
              <a:t>DATA &amp; PRIVACY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6EDF3"/>
                </a:solidFill>
                <a:latin typeface="Segoe UI Semibold"/>
              </a:rPr>
              <a:t>Customer Data Flow &amp; Data Residency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B96A5"/>
                </a:solidFill>
                <a:latin typeface="Segoe UI"/>
              </a:rPr>
              <a:t>Your environment is the perimeter. Nothing leaves without an analyst-initiated action.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7315200" cy="443484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7EE7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84831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7EE787"/>
                </a:solidFill>
                <a:latin typeface="Segoe UI Semibold"/>
              </a:rPr>
              <a:t>YOUR ENVIRONMENT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68580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50" b="1">
                <a:solidFill>
                  <a:srgbClr val="7EE787"/>
                </a:solidFill>
                <a:latin typeface="Segoe UI Semibold"/>
              </a:rPr>
              <a:t>▪ </a:t>
            </a:r>
            <a:r>
              <a:rPr sz="1250">
                <a:solidFill>
                  <a:srgbClr val="E6EDF3"/>
                </a:solidFill>
                <a:latin typeface="Segoe UI"/>
              </a:rPr>
              <a:t>Analyst inputs (pasted commands, uploaded files, IOCs)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7EE787"/>
                </a:solidFill>
                <a:latin typeface="Segoe UI Semibold"/>
              </a:rPr>
              <a:t>▪ </a:t>
            </a:r>
            <a:r>
              <a:rPr sz="1250">
                <a:solidFill>
                  <a:srgbClr val="E6EDF3"/>
                </a:solidFill>
                <a:latin typeface="Segoe UI"/>
              </a:rPr>
              <a:t>MongoDB (cases, events, IOCs, corrections, GridFS docs)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7EE787"/>
                </a:solidFill>
                <a:latin typeface="Segoe UI Semibold"/>
              </a:rPr>
              <a:t>▪ </a:t>
            </a:r>
            <a:r>
              <a:rPr sz="1250">
                <a:solidFill>
                  <a:srgbClr val="E6EDF3"/>
                </a:solidFill>
                <a:latin typeface="Segoe UI"/>
              </a:rPr>
              <a:t>Decoded artifacts, PowerShell ASTs, decode chains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7EE787"/>
                </a:solidFill>
                <a:latin typeface="Segoe UI Semibold"/>
              </a:rPr>
              <a:t>▪ </a:t>
            </a:r>
            <a:r>
              <a:rPr sz="1250">
                <a:solidFill>
                  <a:srgbClr val="E6EDF3"/>
                </a:solidFill>
                <a:latin typeface="Segoe UI"/>
              </a:rPr>
              <a:t>Evidence graph, canonical SSOT, verdicts, reports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7EE787"/>
                </a:solidFill>
                <a:latin typeface="Segoe UI Semibold"/>
              </a:rPr>
              <a:t>▪ </a:t>
            </a:r>
            <a:r>
              <a:rPr sz="1250">
                <a:solidFill>
                  <a:srgbClr val="E6EDF3"/>
                </a:solidFill>
                <a:latin typeface="Segoe UI"/>
              </a:rPr>
              <a:t>Analyst corrections, sessions, benchmark history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7EE787"/>
                </a:solidFill>
                <a:latin typeface="Segoe UI Semibold"/>
              </a:rPr>
              <a:t>▪ </a:t>
            </a:r>
            <a:r>
              <a:rPr sz="1250">
                <a:solidFill>
                  <a:srgbClr val="E6EDF3"/>
                </a:solidFill>
                <a:latin typeface="Segoe UI"/>
              </a:rPr>
              <a:t>TI feed cache (IOCs pulled from OSINT providers)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7EE787"/>
                </a:solidFill>
                <a:latin typeface="Segoe UI Semibold"/>
              </a:rPr>
              <a:t>▪ </a:t>
            </a:r>
            <a:r>
              <a:rPr sz="1250">
                <a:solidFill>
                  <a:srgbClr val="E6EDF3"/>
                </a:solidFill>
                <a:latin typeface="Segoe UI"/>
              </a:rPr>
              <a:t>All logs, audit records, and application 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084831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7B72"/>
                </a:solidFill>
                <a:latin typeface="Segoe UI Semibold"/>
              </a:rPr>
              <a:t>OUTBOUND — only when the analyst or operator triggers 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514600"/>
            <a:ext cx="3429000" cy="6858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25603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79C0FF"/>
                </a:solidFill>
                <a:latin typeface="Segoe UI Semibold"/>
              </a:rPr>
              <a:t>→  OSINT feed pull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280720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C9D1D9"/>
                </a:solidFill>
                <a:latin typeface="Segoe UI"/>
              </a:rPr>
              <a:t>URLhaus · OTX · AbuseIPDB · ThreatFox · MalwareBazaar · MalwareBytes · Talos · CINS Army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3273552"/>
            <a:ext cx="3429000" cy="6858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331927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79C0FF"/>
                </a:solidFill>
                <a:latin typeface="Segoe UI Semibold"/>
              </a:rPr>
              <a:t>→  LLM narrate (opt)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35661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C9D1D9"/>
                </a:solidFill>
                <a:latin typeface="Segoe UI"/>
              </a:rPr>
              <a:t>Prompt sent to your configured LLM provider. Off if not configured.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4032504"/>
            <a:ext cx="3429000" cy="6858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407822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79C0FF"/>
                </a:solidFill>
                <a:latin typeface="Segoe UI Semibold"/>
              </a:rPr>
              <a:t>→  URL enrichment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432511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C9D1D9"/>
                </a:solidFill>
                <a:latin typeface="Segoe UI"/>
              </a:rPr>
              <a:t>Analyst-triggered fetch. Private-IP / SSRF blocked.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4791456"/>
            <a:ext cx="3429000" cy="6858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4837176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79C0FF"/>
                </a:solidFill>
                <a:latin typeface="Segoe UI Semibold"/>
              </a:rPr>
              <a:t>→  TAXII 2.1 push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5084064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C9D1D9"/>
                </a:solidFill>
                <a:latin typeface="Segoe UI"/>
              </a:rPr>
              <a:t>STIX bundle to your configured TAXII endpoint. Admin-triggered.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1040" y="5550408"/>
            <a:ext cx="3429000" cy="6858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58200" y="559612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79C0FF"/>
                </a:solidFill>
                <a:latin typeface="Segoe UI Semibold"/>
              </a:rPr>
              <a:t>→  Report download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5843016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C9D1D9"/>
                </a:solidFill>
                <a:latin typeface="Segoe UI"/>
              </a:rPr>
              <a:t>Analyst downloads to their browser.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4465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6A5"/>
                </a:solidFill>
                <a:latin typeface="Segoe UI"/>
              </a:rPr>
              <a:t>The Emergent-hosted mode is optional. In customer-deployed mode, no data flows to Emergent Labs.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B96A5"/>
                </a:solidFill>
                <a:latin typeface="Segoe UI"/>
              </a:rPr>
              <a:t>NivXRay · Customer Technical Deck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B96A5"/>
                </a:solidFill>
                <a:latin typeface="Segoe UI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6446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B96A5"/>
                </a:solidFill>
                <a:latin typeface="Segoe UI"/>
              </a:rPr>
              <a:t>Confidential · Draft · 2026-08-11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457200"/>
          </a:xfrm>
          <a:prstGeom prst="rect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B96A5"/>
                </a:solidFill>
                <a:latin typeface="Segoe UI Semibold"/>
              </a:rPr>
              <a:t>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6EDF3"/>
                </a:solidFill>
                <a:latin typeface="Segoe UI Semibold"/>
              </a:rPr>
              <a:t>Deployment Options &amp; Current Maturity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B96A5"/>
                </a:solidFill>
                <a:latin typeface="Segoe UI"/>
              </a:rPr>
              <a:t>Honest state today. Production packaging is on the near-term roadmap.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4114800" cy="594360"/>
          </a:xfrm>
          <a:prstGeom prst="roundRect">
            <a:avLst>
              <a:gd name="adj" fmla="val 8000"/>
            </a:avLst>
          </a:prstGeom>
          <a:solidFill>
            <a:srgbClr val="1F2730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21408"/>
            <a:ext cx="3840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7EE787"/>
                </a:solidFill>
                <a:latin typeface="Segoe UI Semibold"/>
              </a:rPr>
              <a:t>Deployment Model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00600" y="1965960"/>
            <a:ext cx="2286000" cy="594360"/>
          </a:xfrm>
          <a:prstGeom prst="roundRect">
            <a:avLst>
              <a:gd name="adj" fmla="val 8000"/>
            </a:avLst>
          </a:prstGeom>
          <a:solidFill>
            <a:srgbClr val="1F2730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2121408"/>
            <a:ext cx="20116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7EE787"/>
                </a:solidFill>
                <a:latin typeface="Segoe UI Semibold"/>
              </a:rPr>
              <a:t>Feasibility Today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86600" y="1965960"/>
            <a:ext cx="4892040" cy="594360"/>
          </a:xfrm>
          <a:prstGeom prst="roundRect">
            <a:avLst>
              <a:gd name="adj" fmla="val 8000"/>
            </a:avLst>
          </a:prstGeom>
          <a:solidFill>
            <a:srgbClr val="1F2730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2121408"/>
            <a:ext cx="4617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7EE787"/>
                </a:solidFill>
                <a:latin typeface="Segoe UI Semibold"/>
              </a:rPr>
              <a:t>What's Needed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560320"/>
            <a:ext cx="4114800" cy="59436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715768"/>
            <a:ext cx="3840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E6EDF3"/>
                </a:solidFill>
                <a:latin typeface="Segoe UI"/>
              </a:rPr>
              <a:t>Single-tenant SaaS · Emergent-hosted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00600" y="2560320"/>
            <a:ext cx="2286000" cy="59436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2715768"/>
            <a:ext cx="20116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7EE787"/>
                </a:solidFill>
                <a:latin typeface="Segoe UI"/>
              </a:rPr>
              <a:t>🟢 Live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86600" y="2560320"/>
            <a:ext cx="4892040" cy="59436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0" y="2715768"/>
            <a:ext cx="4617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E6EDF3"/>
                </a:solidFill>
                <a:latin typeface="Segoe UI"/>
              </a:rPr>
              <a:t>Currently operational; ideal for evaluation only.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154680"/>
            <a:ext cx="4114800" cy="59436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310128"/>
            <a:ext cx="3840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E6EDF3"/>
                </a:solidFill>
                <a:latin typeface="Segoe UI"/>
              </a:rPr>
              <a:t>Customer-hosted single-node (VM)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00600" y="3154680"/>
            <a:ext cx="2286000" cy="59436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7760" y="3310128"/>
            <a:ext cx="20116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F0D05E"/>
                </a:solidFill>
                <a:latin typeface="Segoe UI"/>
              </a:rPr>
              <a:t>🟡 Under Validation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86600" y="3154680"/>
            <a:ext cx="4892040" cy="59436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3310128"/>
            <a:ext cx="4617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E6EDF3"/>
                </a:solidFill>
                <a:latin typeface="Segoe UI"/>
              </a:rPr>
              <a:t>Docker Compose packaging + `.env` per customer + operator runbook.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3749040"/>
            <a:ext cx="4114800" cy="59436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904488"/>
            <a:ext cx="3840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E6EDF3"/>
                </a:solidFill>
                <a:latin typeface="Segoe UI"/>
              </a:rPr>
              <a:t>Customer-hosted Kubernetes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00600" y="3749040"/>
            <a:ext cx="2286000" cy="59436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37760" y="3904488"/>
            <a:ext cx="20116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F0D05E"/>
                </a:solidFill>
                <a:latin typeface="Segoe UI"/>
              </a:rPr>
              <a:t>🟡 Under Validation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86600" y="3749040"/>
            <a:ext cx="4892040" cy="59436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3760" y="3904488"/>
            <a:ext cx="4617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E6EDF3"/>
                </a:solidFill>
                <a:latin typeface="Segoe UI"/>
              </a:rPr>
              <a:t>Helm chart, image registry, MongoDB StatefulSet, secret management.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343400"/>
            <a:ext cx="4114800" cy="59436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4498848"/>
            <a:ext cx="3840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E6EDF3"/>
                </a:solidFill>
                <a:latin typeface="Segoe UI"/>
              </a:rPr>
              <a:t>Air-gapped enterprise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800600" y="4343400"/>
            <a:ext cx="2286000" cy="59436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4498848"/>
            <a:ext cx="20116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FFA657"/>
                </a:solidFill>
                <a:latin typeface="Segoe UI"/>
              </a:rPr>
              <a:t>🟠 Roadmap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86600" y="4343400"/>
            <a:ext cx="4892040" cy="59436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23760" y="4498848"/>
            <a:ext cx="4617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E6EDF3"/>
                </a:solidFill>
                <a:latin typeface="Segoe UI"/>
              </a:rPr>
              <a:t>Offline LLM path documented; OSINT feed sync must be operator-toggled off.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" y="4937760"/>
            <a:ext cx="4114800" cy="59436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5093208"/>
            <a:ext cx="3840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E6EDF3"/>
                </a:solidFill>
                <a:latin typeface="Segoe UI"/>
              </a:rPr>
              <a:t>Multi-tenant SaaS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800600" y="4937760"/>
            <a:ext cx="2286000" cy="59436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37760" y="5093208"/>
            <a:ext cx="20116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8B96A5"/>
                </a:solidFill>
                <a:latin typeface="Segoe UI"/>
              </a:rPr>
              <a:t>⚪ Not Supported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086600" y="4937760"/>
            <a:ext cx="4892040" cy="59436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23760" y="5093208"/>
            <a:ext cx="4617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E6EDF3"/>
                </a:solidFill>
                <a:latin typeface="Segoe UI"/>
              </a:rPr>
              <a:t>Requires tenant model + per-tenant DB + SSO. Explicitly deferred.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5800" y="5532120"/>
            <a:ext cx="4114800" cy="59436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5687568"/>
            <a:ext cx="3840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E6EDF3"/>
                </a:solidFill>
                <a:latin typeface="Segoe UI"/>
              </a:rPr>
              <a:t>Bring-Your-Own LLM (customer's OpenAI/Anthropic/Gemini)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800600" y="5532120"/>
            <a:ext cx="2286000" cy="59436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937760" y="5687568"/>
            <a:ext cx="20116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F0D05E"/>
                </a:solidFill>
                <a:latin typeface="Segoe UI"/>
              </a:rPr>
              <a:t>🟡 Under Validation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086600" y="5532120"/>
            <a:ext cx="4892040" cy="59436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23760" y="5687568"/>
            <a:ext cx="4617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E6EDF3"/>
                </a:solidFill>
                <a:latin typeface="Segoe UI"/>
              </a:rPr>
              <a:t>LiteLLM shim already routes any provider; needs config-management flow.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" y="63550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8B96A5"/>
                </a:solidFill>
                <a:latin typeface="Segoe UI"/>
              </a:rPr>
              <a:t>Standard deployment sizing (single-node): 2 vCPU · 4 GB RAM · 20 GB storage · outbound HTTPS to OSINT/LLM as configured.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B96A5"/>
                </a:solidFill>
                <a:latin typeface="Segoe UI"/>
              </a:rPr>
              <a:t>NivXRay · Customer Technical Deck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B96A5"/>
                </a:solidFill>
                <a:latin typeface="Segoe UI"/>
              </a:rPr>
              <a:t>10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35040" y="6446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B96A5"/>
                </a:solidFill>
                <a:latin typeface="Segoe UI"/>
              </a:rPr>
              <a:t>Confidential · Draft · 2026-08-11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457200"/>
          </a:xfrm>
          <a:prstGeom prst="rect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B96A5"/>
                </a:solidFill>
                <a:latin typeface="Segoe UI Semibold"/>
              </a:rPr>
              <a:t>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6EDF3"/>
                </a:solidFill>
                <a:latin typeface="Segoe UI Semibold"/>
              </a:rPr>
              <a:t>Component-by-Component Functionality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B96A5"/>
                </a:solidFill>
                <a:latin typeface="Segoe UI"/>
              </a:rPr>
              <a:t>The engines that make up the LIVE analysis pipeline.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20240"/>
            <a:ext cx="5394960" cy="100584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2996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9C0FF"/>
                </a:solidFill>
                <a:latin typeface="Segoe UI Semibold"/>
              </a:rPr>
              <a:t>Input Understanding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9D1D9"/>
                </a:solidFill>
                <a:latin typeface="Segoe UI"/>
              </a:rPr>
              <a:t>Classifies each analyst input — language, encoding, decode plan. Distinguishes prose vs script vs binary vs structured CSV.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920240"/>
            <a:ext cx="5394960" cy="100584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02996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9C0FF"/>
                </a:solidFill>
                <a:latin typeface="Segoe UI Semibold"/>
              </a:rPr>
              <a:t>Multi-Layer Decoder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37744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9D1D9"/>
                </a:solidFill>
                <a:latin typeface="Segoe UI"/>
              </a:rPr>
              <a:t>200+ deterministic decoders. Peels base64/hex/URL/rot13/gzip/lzma/brotli/AES/RC4 chains recursively to a fixed point.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063240"/>
            <a:ext cx="5394960" cy="100584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17296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9C0FF"/>
                </a:solidFill>
                <a:latin typeface="Segoe UI Semibold"/>
              </a:rPr>
              <a:t>Semantic Engine (PowerShell AST)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2044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9D1D9"/>
                </a:solidFill>
                <a:latin typeface="Segoe UI"/>
              </a:rPr>
              <a:t>AST-level deobfuscation — alias resolution, backtick unwrap, variable substitution, string join reconstruction.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063240"/>
            <a:ext cx="5394960" cy="100584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17296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9C0FF"/>
                </a:solidFill>
                <a:latin typeface="Segoe UI Semibold"/>
              </a:rPr>
              <a:t>MITRE Evidence Chain (P0.2)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52044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9D1D9"/>
                </a:solidFill>
                <a:latin typeface="Segoe UI"/>
              </a:rPr>
              <a:t>Enforces that every emitted ATT&amp;CK technique carries {source, rule, field, observed_value, evidence_ref}.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206240"/>
            <a:ext cx="5394960" cy="100584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31596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9C0FF"/>
                </a:solidFill>
                <a:latin typeface="Segoe UI Semibold"/>
              </a:rPr>
              <a:t>Intelligent Document Analyzer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66344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9D1D9"/>
                </a:solidFill>
                <a:latin typeface="Segoe UI"/>
              </a:rPr>
              <a:t>PE/PDF/DOCX/PPTX/XLSX/EML/image parsers. Recursive artifact discovery with fixed-point termination.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4206240"/>
            <a:ext cx="5394960" cy="100584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31596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9C0FF"/>
                </a:solidFill>
                <a:latin typeface="Segoe UI Semibold"/>
              </a:rPr>
              <a:t>Canonical SSOT &amp; Projections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66344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9D1D9"/>
                </a:solidFill>
                <a:latin typeface="Segoe UI"/>
              </a:rPr>
              <a:t>Append-only truth graph plus pure-function projections (verdict · attack chain · attack story · IOC · timeline · reports).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5349240"/>
            <a:ext cx="5394960" cy="100584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45896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9C0FF"/>
                </a:solidFill>
                <a:latin typeface="Segoe UI Semibold"/>
              </a:rPr>
              <a:t>Threat-Intel Feed 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80644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9D1D9"/>
                </a:solidFill>
                <a:latin typeface="Segoe UI"/>
              </a:rPr>
              <a:t>8 providers · 65 K+ IOCs · scheduled sync + on-demand enrichment + TAXII 2.1 push.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5349240"/>
            <a:ext cx="5394960" cy="100584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545896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9C0FF"/>
                </a:solidFill>
                <a:latin typeface="Segoe UI Semibold"/>
              </a:rPr>
              <a:t>Report Engine (deterministic)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80644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9D1D9"/>
                </a:solidFill>
                <a:latin typeface="Segoe UI"/>
              </a:rPr>
              <a:t>Markdown · STIX 2.1 bundle · PDF · ZIP. SHA-256 signed envelope, byte-identical re-render (Markdown &amp; STIX CI-locked).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B96A5"/>
                </a:solidFill>
                <a:latin typeface="Segoe UI"/>
              </a:rPr>
              <a:t>NivXRay · Customer Technical Deck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B96A5"/>
                </a:solidFill>
                <a:latin typeface="Segoe UI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6446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B96A5"/>
                </a:solidFill>
                <a:latin typeface="Segoe UI"/>
              </a:rPr>
              <a:t>Confidential · Draft · 2026-08-11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457200"/>
          </a:xfrm>
          <a:prstGeom prst="rect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B96A5"/>
                </a:solidFill>
                <a:latin typeface="Segoe UI Semibold"/>
              </a:rPr>
              <a:t>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6EDF3"/>
                </a:solidFill>
                <a:latin typeface="Segoe UI Semibold"/>
              </a:rPr>
              <a:t>NivXRay Security Posture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B96A5"/>
                </a:solidFill>
                <a:latin typeface="Segoe UI"/>
              </a:rPr>
              <a:t>Honest inventory: what is in place, what is being hardened next.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5486400" cy="443484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84831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EE787"/>
                </a:solidFill>
                <a:latin typeface="Segoe UI Semibold"/>
              </a:rPr>
              <a:t>IN PLACE 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14600"/>
            <a:ext cx="521208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7EE787"/>
                </a:solidFill>
                <a:latin typeface="Segoe UI Semibold"/>
              </a:rPr>
              <a:t>✓ </a:t>
            </a:r>
            <a:r>
              <a:rPr sz="1100">
                <a:solidFill>
                  <a:srgbClr val="E6EDF3"/>
                </a:solidFill>
                <a:latin typeface="Segoe UI"/>
              </a:rPr>
              <a:t>JWT authentication with bcrypt-hashed credentials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7EE787"/>
                </a:solidFill>
                <a:latin typeface="Segoe UI Semibold"/>
              </a:rPr>
              <a:t>✓ </a:t>
            </a:r>
            <a:r>
              <a:rPr sz="1100">
                <a:solidFill>
                  <a:srgbClr val="E6EDF3"/>
                </a:solidFill>
                <a:latin typeface="Segoe UI"/>
              </a:rPr>
              <a:t>Idempotent admin seed; forced password change (configurable)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7EE787"/>
                </a:solidFill>
                <a:latin typeface="Segoe UI Semibold"/>
              </a:rPr>
              <a:t>✓ </a:t>
            </a:r>
            <a:r>
              <a:rPr sz="1100">
                <a:solidFill>
                  <a:srgbClr val="E6EDF3"/>
                </a:solidFill>
                <a:latin typeface="Segoe UI"/>
              </a:rPr>
              <a:t>SSRF protection (loopback / RFC1918 / link-local blocked)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7EE787"/>
                </a:solidFill>
                <a:latin typeface="Segoe UI Semibold"/>
              </a:rPr>
              <a:t>✓ </a:t>
            </a:r>
            <a:r>
              <a:rPr sz="1100">
                <a:solidFill>
                  <a:srgbClr val="E6EDF3"/>
                </a:solidFill>
                <a:latin typeface="Segoe UI"/>
              </a:rPr>
              <a:t>Request body-size cap (512 KB default / 50 MB whitelisted)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7EE787"/>
                </a:solidFill>
                <a:latin typeface="Segoe UI Semibold"/>
              </a:rPr>
              <a:t>✓ </a:t>
            </a:r>
            <a:r>
              <a:rPr sz="1100">
                <a:solidFill>
                  <a:srgbClr val="E6EDF3"/>
                </a:solidFill>
                <a:latin typeface="Segoe UI"/>
              </a:rPr>
              <a:t>Per-path request timeout with X-Request-ID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7EE787"/>
                </a:solidFill>
                <a:latin typeface="Segoe UI Semibold"/>
              </a:rPr>
              <a:t>✓ </a:t>
            </a:r>
            <a:r>
              <a:rPr sz="1100">
                <a:solidFill>
                  <a:srgbClr val="E6EDF3"/>
                </a:solidFill>
                <a:latin typeface="Segoe UI"/>
              </a:rPr>
              <a:t>GZip response compression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7EE787"/>
                </a:solidFill>
                <a:latin typeface="Segoe UI Semibold"/>
              </a:rPr>
              <a:t>✓ </a:t>
            </a:r>
            <a:r>
              <a:rPr sz="1100">
                <a:solidFill>
                  <a:srgbClr val="E6EDF3"/>
                </a:solidFill>
                <a:latin typeface="Segoe UI"/>
              </a:rPr>
              <a:t>LLM prompt / response telemetry hook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7EE787"/>
                </a:solidFill>
                <a:latin typeface="Segoe UI Semibold"/>
              </a:rPr>
              <a:t>✓ </a:t>
            </a:r>
            <a:r>
              <a:rPr sz="1100">
                <a:solidFill>
                  <a:srgbClr val="E6EDF3"/>
                </a:solidFill>
                <a:latin typeface="Segoe UI"/>
              </a:rPr>
              <a:t>Motor + Pydantic model validation (NoSQL injection guard)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7EE787"/>
                </a:solidFill>
                <a:latin typeface="Segoe UI Semibold"/>
              </a:rPr>
              <a:t>✓ </a:t>
            </a:r>
            <a:r>
              <a:rPr sz="1100">
                <a:solidFill>
                  <a:srgbClr val="E6EDF3"/>
                </a:solidFill>
                <a:latin typeface="Segoe UI"/>
              </a:rPr>
              <a:t>MongoDB bound to localhost inside the pod / VM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7EE787"/>
                </a:solidFill>
                <a:latin typeface="Segoe UI Semibold"/>
              </a:rPr>
              <a:t>✓ </a:t>
            </a:r>
            <a:r>
              <a:rPr sz="1100">
                <a:solidFill>
                  <a:srgbClr val="E6EDF3"/>
                </a:solidFill>
                <a:latin typeface="Segoe UI"/>
              </a:rPr>
              <a:t>P0.3 payload firewall (10-key allowlist)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7EE787"/>
                </a:solidFill>
                <a:latin typeface="Segoe UI Semibold"/>
              </a:rPr>
              <a:t>✓ </a:t>
            </a:r>
            <a:r>
              <a:rPr sz="1100">
                <a:solidFill>
                  <a:srgbClr val="E6EDF3"/>
                </a:solidFill>
                <a:latin typeface="Segoe UI"/>
              </a:rPr>
              <a:t>3,621 test functions across 389 backend test files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7EE787"/>
                </a:solidFill>
                <a:latin typeface="Segoe UI Semibold"/>
              </a:rPr>
              <a:t>✓ </a:t>
            </a:r>
            <a:r>
              <a:rPr sz="1100">
                <a:solidFill>
                  <a:srgbClr val="E6EDF3"/>
                </a:solidFill>
                <a:latin typeface="Segoe UI"/>
              </a:rPr>
              <a:t>Determinism CI gate (Markdown + STIX byte-identical)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965960"/>
            <a:ext cx="5486400" cy="443484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84831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0D05E"/>
                </a:solidFill>
                <a:latin typeface="Segoe UI Semibold"/>
              </a:rPr>
              <a:t>P0 SECURITY HARDENING (IN PROGRESS)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514600"/>
            <a:ext cx="52120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7EE787"/>
                </a:solidFill>
                <a:latin typeface="Segoe UI Semibold"/>
              </a:rPr>
              <a:t>→ </a:t>
            </a:r>
            <a:r>
              <a:rPr sz="1100">
                <a:solidFill>
                  <a:srgbClr val="E6EDF3"/>
                </a:solidFill>
                <a:latin typeface="Segoe UI"/>
              </a:rPr>
              <a:t>Explicit CORS allow-list (replaces permissive wildcard)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7EE787"/>
                </a:solidFill>
                <a:latin typeface="Segoe UI Semibold"/>
              </a:rPr>
              <a:t>→ </a:t>
            </a:r>
            <a:r>
              <a:rPr sz="1100">
                <a:solidFill>
                  <a:srgbClr val="E6EDF3"/>
                </a:solidFill>
                <a:latin typeface="Segoe UI"/>
              </a:rPr>
              <a:t>Login rate-limit / lockout on `/api/auth/login`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7EE787"/>
                </a:solidFill>
                <a:latin typeface="Segoe UI Semibold"/>
              </a:rPr>
              <a:t>→ </a:t>
            </a:r>
            <a:r>
              <a:rPr sz="1100">
                <a:solidFill>
                  <a:srgbClr val="E6EDF3"/>
                </a:solidFill>
                <a:latin typeface="Segoe UI"/>
              </a:rPr>
              <a:t>Archive-bomb / recursion / expanded-size / file-count guards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7EE787"/>
                </a:solidFill>
                <a:latin typeface="Segoe UI Semibold"/>
              </a:rPr>
              <a:t>→ </a:t>
            </a:r>
            <a:r>
              <a:rPr sz="1100">
                <a:solidFill>
                  <a:srgbClr val="E6EDF3"/>
                </a:solidFill>
                <a:latin typeface="Segoe UI"/>
              </a:rPr>
              <a:t>Safe failure for malformed archives (fail-loud)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7EE787"/>
                </a:solidFill>
                <a:latin typeface="Segoe UI Semibold"/>
              </a:rPr>
              <a:t>→ </a:t>
            </a:r>
            <a:r>
              <a:rPr sz="1100">
                <a:solidFill>
                  <a:srgbClr val="E6EDF3"/>
                </a:solidFill>
                <a:latin typeface="Segoe UI"/>
              </a:rPr>
              <a:t>Regression tests locking every new guard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7EE787"/>
                </a:solidFill>
                <a:latin typeface="Segoe UI Semibold"/>
              </a:rPr>
              <a:t>→ </a:t>
            </a:r>
            <a:r>
              <a:rPr sz="1100">
                <a:solidFill>
                  <a:srgbClr val="E6EDF3"/>
                </a:solidFill>
                <a:latin typeface="Segoe UI"/>
              </a:rPr>
              <a:t>P0 documented as customer-facing readiness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7091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B96A5"/>
                </a:solidFill>
                <a:latin typeface="Segoe UI Semibold"/>
              </a:rPr>
              <a:t>PLANNED NEXT (P1-P2)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5029200"/>
            <a:ext cx="52120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50" b="1">
                <a:solidFill>
                  <a:srgbClr val="7EE787"/>
                </a:solidFill>
                <a:latin typeface="Segoe UI Semibold"/>
              </a:rPr>
              <a:t>· </a:t>
            </a:r>
            <a:r>
              <a:rPr sz="1050">
                <a:solidFill>
                  <a:srgbClr val="C9D1D9"/>
                </a:solidFill>
                <a:latin typeface="Segoe UI"/>
              </a:rPr>
              <a:t>Server-side file store (removes 256 KB paste ceiling)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7EE787"/>
                </a:solidFill>
                <a:latin typeface="Segoe UI Semibold"/>
              </a:rPr>
              <a:t>· </a:t>
            </a:r>
            <a:r>
              <a:rPr sz="1050">
                <a:solidFill>
                  <a:srgbClr val="C9D1D9"/>
                </a:solidFill>
                <a:latin typeface="Segoe UI"/>
              </a:rPr>
              <a:t>Subprocess / sandbox isolation for hostile-input parsers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7EE787"/>
                </a:solidFill>
                <a:latin typeface="Segoe UI Semibold"/>
              </a:rPr>
              <a:t>· </a:t>
            </a:r>
            <a:r>
              <a:rPr sz="1050">
                <a:solidFill>
                  <a:srgbClr val="C9D1D9"/>
                </a:solidFill>
                <a:latin typeface="Segoe UI"/>
              </a:rPr>
              <a:t>Audit log surfacing (v2_audit_log)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7EE787"/>
                </a:solidFill>
                <a:latin typeface="Segoe UI Semibold"/>
              </a:rPr>
              <a:t>· </a:t>
            </a:r>
            <a:r>
              <a:rPr sz="1050">
                <a:solidFill>
                  <a:srgbClr val="C9D1D9"/>
                </a:solidFill>
                <a:latin typeface="Segoe UI"/>
              </a:rPr>
              <a:t>Multi-tenant model (deferred until customer requires)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7EE787"/>
                </a:solidFill>
                <a:latin typeface="Segoe UI Semibold"/>
              </a:rPr>
              <a:t>· </a:t>
            </a:r>
            <a:r>
              <a:rPr sz="1050">
                <a:solidFill>
                  <a:srgbClr val="C9D1D9"/>
                </a:solidFill>
                <a:latin typeface="Segoe UI"/>
              </a:rPr>
              <a:t>SSO / OAuth (deferred until customer requires)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B96A5"/>
                </a:solidFill>
                <a:latin typeface="Segoe UI"/>
              </a:rPr>
              <a:t>NivXRay · Customer Technical Deck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B96A5"/>
                </a:solidFill>
                <a:latin typeface="Segoe UI"/>
              </a:rPr>
              <a:t>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6446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B96A5"/>
                </a:solidFill>
                <a:latin typeface="Segoe UI"/>
              </a:rPr>
              <a:t>Confidential · Draft · 2026-08-11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457200"/>
          </a:xfrm>
          <a:prstGeom prst="rect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B96A5"/>
                </a:solidFill>
                <a:latin typeface="Segoe UI Semibold"/>
              </a:rPr>
              <a:t>INTEGRATIONS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6EDF3"/>
                </a:solidFill>
                <a:latin typeface="Segoe UI Semibold"/>
              </a:rPr>
              <a:t>Threat Intelligence, Standards, and LLM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B96A5"/>
                </a:solidFill>
                <a:latin typeface="Segoe UI"/>
              </a:rPr>
              <a:t>How NivXRay connects to your existing ecosystem.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3657600" cy="443484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84831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EE787"/>
                </a:solidFill>
                <a:latin typeface="Segoe UI Semibold"/>
              </a:rPr>
              <a:t>TI PROVIDERS — 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14600"/>
            <a:ext cx="338328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E6EDF3"/>
                </a:solidFill>
                <a:latin typeface="Segoe UI"/>
              </a:rPr>
              <a:t>• AlienVault OTX (API key)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E6EDF3"/>
                </a:solidFill>
                <a:latin typeface="Segoe UI"/>
              </a:rPr>
              <a:t>• AbuseIPDB (API key)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E6EDF3"/>
                </a:solidFill>
                <a:latin typeface="Segoe UI"/>
              </a:rPr>
              <a:t>• URLhaus (abuse.ch)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E6EDF3"/>
                </a:solidFill>
                <a:latin typeface="Segoe UI"/>
              </a:rPr>
              <a:t>• ThreatFox (abuse.ch)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E6EDF3"/>
                </a:solidFill>
                <a:latin typeface="Segoe UI"/>
              </a:rPr>
              <a:t>• MalwareBazaar (abuse.ch)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E6EDF3"/>
                </a:solidFill>
                <a:latin typeface="Segoe UI"/>
              </a:rPr>
              <a:t>• Feodo Tracker (abuse.ch)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E6EDF3"/>
                </a:solidFill>
                <a:latin typeface="Segoe UI"/>
              </a:rPr>
              <a:t>• MalwareBytes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E6EDF3"/>
                </a:solidFill>
                <a:latin typeface="Segoe UI"/>
              </a:rPr>
              <a:t>• Talos Reputation Center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E6EDF3"/>
                </a:solidFill>
                <a:latin typeface="Segoe UI"/>
              </a:rPr>
              <a:t>• CINS Army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E6EDF3"/>
                </a:solidFill>
                <a:latin typeface="Segoe UI"/>
              </a:rPr>
              <a:t>• SANS DShield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E6EDF3"/>
                </a:solidFill>
                <a:latin typeface="Segoe UI"/>
              </a:rPr>
              <a:t>• Blocklist.de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E6EDF3"/>
                </a:solidFill>
                <a:latin typeface="Segoe UI"/>
              </a:rPr>
              <a:t>• CISA KEV catalogue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965960"/>
            <a:ext cx="3657600" cy="443484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084831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9C0FF"/>
                </a:solidFill>
                <a:latin typeface="Segoe UI Semibold"/>
              </a:rPr>
              <a:t>STANDARDS — LIVE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514600"/>
            <a:ext cx="338328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E6EDF3"/>
                </a:solidFill>
                <a:latin typeface="Segoe UI"/>
              </a:rPr>
              <a:t>• STIX 2.1 export (indicators, TLP:CLEAR)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E6EDF3"/>
                </a:solidFill>
                <a:latin typeface="Segoe UI"/>
              </a:rPr>
              <a:t>• TAXII 2.1 push (admin, real-world usage)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E6EDF3"/>
                </a:solidFill>
                <a:latin typeface="Segoe UI"/>
              </a:rPr>
              <a:t>• MITRE ATT&amp;CK framework mapping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E6EDF3"/>
                </a:solidFill>
                <a:latin typeface="Segoe UI"/>
              </a:rPr>
              <a:t>• Sigma rule emission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E6EDF3"/>
                </a:solidFill>
                <a:latin typeface="Segoe UI"/>
              </a:rPr>
              <a:t>• YARA rule emission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E6EDF3"/>
                </a:solidFill>
                <a:latin typeface="Segoe UI"/>
              </a:rPr>
              <a:t>• MITRE Navigator v4.5 layer 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9377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0D05E"/>
                </a:solidFill>
                <a:latin typeface="Segoe UI Semibold"/>
              </a:rPr>
              <a:t>TI PULL — ROADMAP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5349240"/>
            <a:ext cx="33832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50">
                <a:solidFill>
                  <a:srgbClr val="C9D1D9"/>
                </a:solidFill>
                <a:latin typeface="Segoe UI"/>
              </a:rPr>
              <a:t>• STIX/TAXII 2.1 poll (after determinism CI)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C9D1D9"/>
                </a:solidFill>
                <a:latin typeface="Segoe UI"/>
              </a:rPr>
              <a:t>• MISP integration (bidirectional)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C9D1D9"/>
                </a:solidFill>
                <a:latin typeface="Segoe UI"/>
              </a:rPr>
              <a:t>• AI-clustered campaigns (TweetFeed)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965960"/>
            <a:ext cx="3566160" cy="443484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084831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9C0FF"/>
                </a:solidFill>
                <a:latin typeface="Segoe UI Semibold"/>
              </a:rPr>
              <a:t>LLM OPTIONS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514600"/>
            <a:ext cx="32918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E6EDF3"/>
                </a:solidFill>
                <a:latin typeface="Segoe UI"/>
              </a:rPr>
              <a:t>• Customer's Anthropic Claude key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E6EDF3"/>
                </a:solidFill>
                <a:latin typeface="Segoe UI"/>
              </a:rPr>
              <a:t>• Customer's OpenAI key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E6EDF3"/>
                </a:solidFill>
                <a:latin typeface="Segoe UI"/>
              </a:rPr>
              <a:t>• Customer's Google Gemini key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E6EDF3"/>
                </a:solidFill>
                <a:latin typeface="Segoe UI"/>
              </a:rPr>
              <a:t>• Any provider via LiteLLM shim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E6EDF3"/>
                </a:solidFill>
                <a:latin typeface="Segoe UI"/>
              </a:rPr>
              <a:t>• LLM narrate can be disabled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E6EDF3"/>
                </a:solidFill>
                <a:latin typeface="Segoe UI"/>
              </a:rPr>
              <a:t>• Air-gapped LLM path (roadmap)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49377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7EE787"/>
                </a:solidFill>
                <a:latin typeface="Segoe UI Semibold"/>
              </a:rPr>
              <a:t>Property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5212080"/>
            <a:ext cx="32461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9D1D9"/>
                </a:solidFill>
                <a:latin typeface="Segoe UI"/>
              </a:rPr>
              <a:t>LLM is used only for narrative generation. It NEVER introduces new ATT&amp;CK techniques or verdicts. Deterministic evidence chain is independent of the LLM.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B96A5"/>
                </a:solidFill>
                <a:latin typeface="Segoe UI"/>
              </a:rPr>
              <a:t>NivXRay · Customer Technical Deck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B96A5"/>
                </a:solidFill>
                <a:latin typeface="Segoe UI"/>
              </a:rPr>
              <a:t>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6446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B96A5"/>
                </a:solidFill>
                <a:latin typeface="Segoe UI"/>
              </a:rPr>
              <a:t>Confidential · Draft · 2026-08-11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457200"/>
          </a:xfrm>
          <a:prstGeom prst="rect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B96A5"/>
                </a:solidFill>
                <a:latin typeface="Segoe UI Semibold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6EDF3"/>
                </a:solidFill>
                <a:latin typeface="Segoe UI Semibold"/>
              </a:rPr>
              <a:t>Current LIVE Path vs. Next-Generation (Under Validation)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B96A5"/>
                </a:solidFill>
                <a:latin typeface="Segoe UI"/>
              </a:rPr>
              <a:t>The next-gen architecture is coded, shadow-observed, and gated by evidence-driven promotion.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5486400" cy="443484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5875">
            <a:solidFill>
              <a:srgbClr val="7EE7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84831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EE787"/>
                </a:solidFill>
                <a:latin typeface="Segoe UI Semibold"/>
              </a:rPr>
              <a:t>CURRENT · LIVE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2084831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F1218"/>
          </a:solidFill>
          <a:ln w="9525">
            <a:solidFill>
              <a:srgbClr val="7EE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000" b="1">
                <a:solidFill>
                  <a:srgbClr val="7EE787"/>
                </a:solidFill>
                <a:latin typeface="Segoe UI Semibold"/>
              </a:rPr>
              <a:t>🟢 SHIPPING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06040"/>
            <a:ext cx="52120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E6EDF3"/>
                </a:solidFill>
                <a:latin typeface="Segoe UI"/>
              </a:rPr>
              <a:t>• Input (paste / upload ≤ 256 KB)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E6EDF3"/>
                </a:solidFill>
                <a:latin typeface="Segoe UI"/>
              </a:rPr>
              <a:t>•   → DIE Analysis Pipeline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E6EDF3"/>
                </a:solidFill>
                <a:latin typeface="Segoe UI"/>
              </a:rPr>
              <a:t>•      → Canonical SSOT (per-request, in-memory)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E6EDF3"/>
                </a:solidFill>
                <a:latin typeface="Segoe UI"/>
              </a:rPr>
              <a:t>•         → Deterministic Projections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E6EDF3"/>
                </a:solidFill>
                <a:latin typeface="Segoe UI"/>
              </a:rPr>
              <a:t>•            → Workspace panels + Reports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120640"/>
            <a:ext cx="52120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6A5"/>
                </a:solidFill>
                <a:latin typeface="Segoe UI"/>
              </a:rPr>
              <a:t>Regression-locked · 114 canonical API tests · P0.2 evidence chain · P0.3 payload firewall · determinism CI (Markdown + STIX).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965960"/>
            <a:ext cx="5486400" cy="443484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5875">
            <a:solidFill>
              <a:srgbClr val="F0D0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084831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0D05E"/>
                </a:solidFill>
                <a:latin typeface="Segoe UI Semibold"/>
              </a:rPr>
              <a:t>NEXT-GEN · UNDER VALIDATION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378440" y="2084831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0F1218"/>
          </a:solidFill>
          <a:ln w="9525">
            <a:solidFill>
              <a:srgbClr val="F0D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000" b="1">
                <a:solidFill>
                  <a:srgbClr val="F0D05E"/>
                </a:solidFill>
                <a:latin typeface="Segoe UI Semibold"/>
              </a:rPr>
              <a:t>🟡 SHADOW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606040"/>
            <a:ext cx="52120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50">
                <a:solidFill>
                  <a:srgbClr val="C9D1D9"/>
                </a:solidFill>
                <a:latin typeface="Segoe UI"/>
              </a:rPr>
              <a:t>• Universal Input Router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C9D1D9"/>
                </a:solidFill>
                <a:latin typeface="Segoe UI"/>
              </a:rPr>
              <a:t>•   → Adapter Tier (Sysmon · EVTX · JSON · CSV · Syslog · Webhook)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C9D1D9"/>
                </a:solidFill>
                <a:latin typeface="Segoe UI"/>
              </a:rPr>
              <a:t>•      → Canonical Event Bag (persisted)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C9D1D9"/>
                </a:solidFill>
                <a:latin typeface="Segoe UI"/>
              </a:rPr>
              <a:t>•         → Investigation Knowledge Graph (IKG · 13 node · 14 edge)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C9D1D9"/>
                </a:solidFill>
                <a:latin typeface="Segoe UI"/>
              </a:rPr>
              <a:t>•            → Correlation Engine (Event→Process→Chain→Device→Incident)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C9D1D9"/>
                </a:solidFill>
                <a:latin typeface="Segoe UI"/>
              </a:rPr>
              <a:t>•               → Verdict Engine v3 (Adaptive Weight Profiles)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C9D1D9"/>
                </a:solidFill>
                <a:latin typeface="Segoe UI"/>
              </a:rPr>
              <a:t>•                  → Attack Story · Mitigation · Reports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5623560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6A5"/>
                </a:solidFill>
                <a:latin typeface="Segoe UI"/>
              </a:rPr>
              <a:t>Promoted from shadow → live only via replay-parity gate. Never a flag-flip in isolation.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B96A5"/>
                </a:solidFill>
                <a:latin typeface="Segoe UI"/>
              </a:rPr>
              <a:t>NivXRay · Customer Technical Deck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B96A5"/>
                </a:solidFill>
                <a:latin typeface="Segoe UI"/>
              </a:rPr>
              <a:t>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6446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B96A5"/>
                </a:solidFill>
                <a:latin typeface="Segoe UI"/>
              </a:rPr>
              <a:t>Confidential · Draft · 2026-08-11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457200"/>
          </a:xfrm>
          <a:prstGeom prst="rect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B96A5"/>
                </a:solidFill>
                <a:latin typeface="Segoe UI Semibold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6EDF3"/>
                </a:solidFill>
                <a:latin typeface="Segoe UI Semibold"/>
              </a:rPr>
              <a:t>The Delivery Sequence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B96A5"/>
                </a:solidFill>
                <a:latin typeface="Segoe UI"/>
              </a:rPr>
              <a:t>Ordered so security and ingestion foundations land before capability expansion.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822960" cy="685800"/>
          </a:xfrm>
          <a:prstGeom prst="roundRect">
            <a:avLst>
              <a:gd name="adj" fmla="val 30000"/>
            </a:avLst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1218"/>
                </a:solidFill>
                <a:latin typeface="Segoe UI Semibold"/>
              </a:rPr>
              <a:t>P0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0116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7EE787"/>
                </a:solidFill>
                <a:latin typeface="Segoe UI Semibold"/>
              </a:rPr>
              <a:t>Security Hardening Gate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3317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C9D1D9"/>
                </a:solidFill>
                <a:latin typeface="Segoe UI"/>
              </a:rPr>
              <a:t>CORS allow-list · login rate-limit · archive-bomb guards · fail-loud archive handling.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715768"/>
            <a:ext cx="822960" cy="685800"/>
          </a:xfrm>
          <a:prstGeom prst="roundRect">
            <a:avLst>
              <a:gd name="adj" fmla="val 30000"/>
            </a:avLst>
          </a:prstGeom>
          <a:solidFill>
            <a:srgbClr val="79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1218"/>
                </a:solidFill>
                <a:latin typeface="Segoe UI Semibold"/>
              </a:rPr>
              <a:t>P1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76148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79C0FF"/>
                </a:solidFill>
                <a:latin typeface="Segoe UI Semibold"/>
              </a:rPr>
              <a:t>Server-Side File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308152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C9D1D9"/>
                </a:solidFill>
                <a:latin typeface="Segoe UI"/>
              </a:rPr>
              <a:t>Backend file store + provenance envelope + Input Router. Removes 256 KB ceiling.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65576"/>
            <a:ext cx="822960" cy="685800"/>
          </a:xfrm>
          <a:prstGeom prst="roundRect">
            <a:avLst>
              <a:gd name="adj" fmla="val 30000"/>
            </a:avLst>
          </a:prstGeom>
          <a:solidFill>
            <a:srgbClr val="79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1218"/>
                </a:solidFill>
                <a:latin typeface="Segoe UI Semibold"/>
              </a:rPr>
              <a:t>P2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511296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79C0FF"/>
                </a:solidFill>
                <a:latin typeface="Segoe UI Semibold"/>
              </a:rPr>
              <a:t>Sysmon / EVTX Adapter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831336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C9D1D9"/>
                </a:solidFill>
                <a:latin typeface="Segoe UI"/>
              </a:rPr>
              <a:t>Real telemetry into the canonical event bag; Timeline &amp; Query consume automatically.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215384"/>
            <a:ext cx="822960" cy="685800"/>
          </a:xfrm>
          <a:prstGeom prst="roundRect">
            <a:avLst>
              <a:gd name="adj" fmla="val 30000"/>
            </a:avLst>
          </a:prstGeom>
          <a:solidFill>
            <a:srgbClr val="F0D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1218"/>
                </a:solidFill>
                <a:latin typeface="Segoe UI Semibold"/>
              </a:rPr>
              <a:t>P3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4261104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0D05E"/>
                </a:solidFill>
                <a:latin typeface="Segoe UI Semibold"/>
              </a:rPr>
              <a:t>Shadow-Pipeline Replay &amp; Promotion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4581144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C9D1D9"/>
                </a:solidFill>
                <a:latin typeface="Segoe UI"/>
              </a:rPr>
              <a:t>IKG · Verdict v3 · Correlation · Case Engine · Artifact Store lit under replay parity.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965192"/>
            <a:ext cx="822960" cy="685800"/>
          </a:xfrm>
          <a:prstGeom prst="roundRect">
            <a:avLst>
              <a:gd name="adj" fmla="val 30000"/>
            </a:avLst>
          </a:prstGeom>
          <a:solidFill>
            <a:srgbClr val="F0D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1218"/>
                </a:solidFill>
                <a:latin typeface="Segoe UI Semibold"/>
              </a:rPr>
              <a:t>P4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5010912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0D05E"/>
                </a:solidFill>
                <a:latin typeface="Segoe UI Semibold"/>
              </a:rPr>
              <a:t>Broader EDR/XDR ingest + TweetFeed campaigns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533095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C9D1D9"/>
                </a:solidFill>
                <a:latin typeface="Segoe UI"/>
              </a:rPr>
              <a:t>CrowdStrike/Defender/SentinelOne/Splunk connectors; AI-clustered TI campaigns.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715000"/>
            <a:ext cx="822960" cy="685800"/>
          </a:xfrm>
          <a:prstGeom prst="roundRect">
            <a:avLst>
              <a:gd name="adj" fmla="val 30000"/>
            </a:avLst>
          </a:prstGeom>
          <a:solidFill>
            <a:srgbClr val="8B9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1218"/>
                </a:solidFill>
                <a:latin typeface="Segoe UI Semibold"/>
              </a:rPr>
              <a:t>P5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57607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8B96A5"/>
                </a:solidFill>
                <a:latin typeface="Segoe UI Semibold"/>
              </a:rPr>
              <a:t>Enterprise readiness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60807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C9D1D9"/>
                </a:solidFill>
                <a:latin typeface="Segoe UI"/>
              </a:rPr>
              <a:t>Multi-tenant · SSO/SAML · audit trail · air-gapped installer.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4465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8B96A5"/>
                </a:solidFill>
                <a:latin typeface="Segoe UI"/>
              </a:rPr>
              <a:t>Timeline is capability-gated, not date-gated. Every phase ships with its own regression tests before the next opens.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B96A5"/>
                </a:solidFill>
                <a:latin typeface="Segoe UI"/>
              </a:rPr>
              <a:t>NivXRay · Customer Technical Deck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B96A5"/>
                </a:solidFill>
                <a:latin typeface="Segoe UI"/>
              </a:rPr>
              <a:t>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6446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B96A5"/>
                </a:solidFill>
                <a:latin typeface="Segoe UI"/>
              </a:rPr>
              <a:t>Confidential · Draft · 2026-08-11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457200"/>
          </a:xfrm>
          <a:prstGeom prst="rect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B96A5"/>
                </a:solidFill>
                <a:latin typeface="Segoe UI Semibold"/>
              </a:rPr>
              <a:t>BOUNDARIES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6EDF3"/>
                </a:solidFill>
                <a:latin typeface="Segoe UI Semibold"/>
              </a:rPr>
              <a:t>What NivXRay Does NOT Claim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B96A5"/>
                </a:solidFill>
                <a:latin typeface="Segoe UI"/>
              </a:rPr>
              <a:t>Explicit boundaries. Trust is built by being clear about what we don't 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20240"/>
            <a:ext cx="5394960" cy="96012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2996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7B72"/>
                </a:solidFill>
                <a:latin typeface="Segoe UI Semibold"/>
              </a:rPr>
              <a:t>✗  NivXRay is not a SIEM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37744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  <a:latin typeface="Segoe UI"/>
              </a:rPr>
              <a:t>We do not ingest, retain, or query large-scale event streams. Bring your SIEM.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920240"/>
            <a:ext cx="5394960" cy="96012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02996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7B72"/>
                </a:solidFill>
                <a:latin typeface="Segoe UI Semibold"/>
              </a:rPr>
              <a:t>✗  NivXRay is not an EDR or XDR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237744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  <a:latin typeface="Segoe UI"/>
              </a:rPr>
              <a:t>We do not deploy endpoint agents. We do not collect telemetry ourselves.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017520"/>
            <a:ext cx="5394960" cy="96012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12724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7B72"/>
                </a:solidFill>
                <a:latin typeface="Segoe UI Semibold"/>
              </a:rPr>
              <a:t>✗  NivXRay is not a sandbox / detonation 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7472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  <a:latin typeface="Segoe UI"/>
              </a:rPr>
              <a:t>We do not execute suspicious binaries. Static analysis + parsers only.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017520"/>
            <a:ext cx="5394960" cy="96012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12724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7B72"/>
                </a:solidFill>
                <a:latin typeface="Segoe UI Semibold"/>
              </a:rPr>
              <a:t>✗  NivXRay is not multi-tenant today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347472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  <a:latin typeface="Segoe UI"/>
              </a:rPr>
              <a:t>One deployment = one customer. SaaS multi-tenant is on the roadmap only.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114800"/>
            <a:ext cx="5394960" cy="96012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22452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7B72"/>
                </a:solidFill>
                <a:latin typeface="Segoe UI Semibold"/>
              </a:rPr>
              <a:t>✗  NivXRay does not depend on an LLM for verdicts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57200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  <a:latin typeface="Segoe UI"/>
              </a:rPr>
              <a:t>The evidence chain is deterministic. LLM is prose narrative only, and optional.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4114800"/>
            <a:ext cx="5394960" cy="96012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22452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7B72"/>
                </a:solidFill>
                <a:latin typeface="Segoe UI Semibold"/>
              </a:rPr>
              <a:t>✗  NivXRay does not send your data to Emergent Labs in customer-hosted mode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457200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  <a:latin typeface="Segoe UI"/>
              </a:rPr>
              <a:t>In your environment: your MongoDB, your keys, your outbound feeds. No vendor callbacks.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5212079"/>
            <a:ext cx="5394960" cy="96012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321807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7B72"/>
                </a:solidFill>
                <a:latin typeface="Segoe UI Semibold"/>
              </a:rPr>
              <a:t>✗  NivXRay does not certify compliance without your validation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5669279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  <a:latin typeface="Segoe UI"/>
              </a:rPr>
              <a:t>Explainability supports SOC2 / ISO / NIS2 evidence — your GRC team validates the fit.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5212079"/>
            <a:ext cx="5394960" cy="96012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5321807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7B72"/>
                </a:solidFill>
                <a:latin typeface="Segoe UI Semibold"/>
              </a:rPr>
              <a:t>✗  NivXRay does not overpromise the shadow architecture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5669279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  <a:latin typeface="Segoe UI"/>
              </a:rPr>
              <a:t>IKG · Verdict v3 · Correlation · Adapters are labelled 'under validation' until promoted.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B96A5"/>
                </a:solidFill>
                <a:latin typeface="Segoe UI"/>
              </a:rPr>
              <a:t>NivXRay · Customer Technical Deck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B96A5"/>
                </a:solidFill>
                <a:latin typeface="Segoe UI"/>
              </a:rPr>
              <a:t>16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6446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B96A5"/>
                </a:solidFill>
                <a:latin typeface="Segoe UI"/>
              </a:rPr>
              <a:t>Confidential · Draft · 2026-08-11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457200"/>
          </a:xfrm>
          <a:prstGeom prst="rect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B96A5"/>
                </a:solidFill>
                <a:latin typeface="Segoe UI Semibold"/>
              </a:rPr>
              <a:t>POC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6EDF3"/>
                </a:solidFill>
                <a:latin typeface="Segoe UI Semibold"/>
              </a:rPr>
              <a:t>Customer Evaluation &amp; POC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B96A5"/>
                </a:solidFill>
                <a:latin typeface="Segoe UI"/>
              </a:rPr>
              <a:t>A four-stage path from first look to production deployment.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2743200" cy="402336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2240280"/>
            <a:ext cx="1280160" cy="365760"/>
          </a:xfrm>
          <a:prstGeom prst="roundRect">
            <a:avLst>
              <a:gd name="adj" fmla="val 40000"/>
            </a:avLst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218"/>
                </a:solidFill>
                <a:latin typeface="Segoe UI Semibold"/>
              </a:rPr>
              <a:t>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8892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Segoe UI Semibold"/>
              </a:rPr>
              <a:t>Guided walkthrough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29000"/>
            <a:ext cx="237744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C9D1D9"/>
                </a:solidFill>
                <a:latin typeface="Segoe UI"/>
              </a:rPr>
              <a:t>Live session on the Emergent-hosted instance. Analysts paste real artifacts and see the evidence chain end-to-end.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965960"/>
            <a:ext cx="2743200" cy="402336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840480" y="2240280"/>
            <a:ext cx="1280160" cy="365760"/>
          </a:xfrm>
          <a:prstGeom prst="roundRect">
            <a:avLst>
              <a:gd name="adj" fmla="val 40000"/>
            </a:avLst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218"/>
                </a:solidFill>
                <a:latin typeface="Segoe UI Semibold"/>
              </a:rPr>
              <a:t>Week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278892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Segoe UI Semibold"/>
              </a:rPr>
              <a:t>Customer-hosted PoC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3429000"/>
            <a:ext cx="237744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C9D1D9"/>
                </a:solidFill>
                <a:latin typeface="Segoe UI"/>
              </a:rPr>
              <a:t>Docker Compose install in your DMZ or evaluation VLAN. Bring 3-5 historical investigations; we reproduce them under evidence-provenance.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1965960"/>
            <a:ext cx="2743200" cy="402336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720840" y="2240280"/>
            <a:ext cx="1280160" cy="365760"/>
          </a:xfrm>
          <a:prstGeom prst="roundRect">
            <a:avLst>
              <a:gd name="adj" fmla="val 40000"/>
            </a:avLst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218"/>
                </a:solidFill>
                <a:latin typeface="Segoe UI Semibold"/>
              </a:rPr>
              <a:t>Week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78892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Segoe UI Semibold"/>
              </a:rPr>
              <a:t>Integration &amp; workflow 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429000"/>
            <a:ext cx="237744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C9D1D9"/>
                </a:solidFill>
                <a:latin typeface="Segoe UI"/>
              </a:rPr>
              <a:t>Connect TI feeds, LLM (or none), TAXII target. Analyst team runs 10-20 live investigations. Corrections and feedback captured.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0" y="1965960"/>
            <a:ext cx="2743200" cy="402336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01200" y="2240280"/>
            <a:ext cx="1280160" cy="365760"/>
          </a:xfrm>
          <a:prstGeom prst="roundRect">
            <a:avLst>
              <a:gd name="adj" fmla="val 40000"/>
            </a:avLst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218"/>
                </a:solidFill>
                <a:latin typeface="Segoe UI Semibold"/>
              </a:rPr>
              <a:t>Week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55480" y="278892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Segoe UI Semibold"/>
              </a:rPr>
              <a:t>Assessment &amp; go/no-go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55480" y="3429000"/>
            <a:ext cx="237744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C9D1D9"/>
                </a:solidFill>
                <a:latin typeface="Segoe UI"/>
              </a:rPr>
              <a:t>Joint review: capability coverage · security posture · deployment fit · roadmap priorities. Signed evidence report per investigation.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355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6A5"/>
                </a:solidFill>
                <a:latin typeface="Segoe UI"/>
              </a:rPr>
              <a:t>Every stage produces reproducible artefacts you keep: decoded chains, verdict cards, MITRE mappings, signed reports, and evidence graphs.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B96A5"/>
                </a:solidFill>
                <a:latin typeface="Segoe UI"/>
              </a:rPr>
              <a:t>NivXRay · Customer Technical Deck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B96A5"/>
                </a:solidFill>
                <a:latin typeface="Segoe UI"/>
              </a:rPr>
              <a:t>17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6446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B96A5"/>
                </a:solidFill>
                <a:latin typeface="Segoe UI"/>
              </a:rPr>
              <a:t>Confidential · Draft · 2026-08-11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10312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E6EDF3"/>
                </a:solidFill>
                <a:latin typeface="Segoe UI Semibold"/>
              </a:rPr>
              <a:t>Evidence over inference.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9260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7EE787"/>
                </a:solidFill>
                <a:latin typeface="Segoe UI Semibold"/>
              </a:rPr>
              <a:t>Explainability over opacity.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0233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8B96A5"/>
                </a:solidFill>
                <a:latin typeface="Segoe UI Semibold"/>
              </a:rPr>
              <a:t>Your environment. Your data. Your control.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9377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EE787"/>
                </a:solidFill>
                <a:latin typeface="Segoe UI Semibold"/>
              </a:rPr>
              <a:t>Next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30352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E6EDF3"/>
                </a:solidFill>
                <a:latin typeface="Segoe UI"/>
              </a:rPr>
              <a:t>• Schedule guided walkthrough on Emergent-hosted evaluation instance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6EDF3"/>
                </a:solidFill>
                <a:latin typeface="Segoe UI"/>
              </a:rPr>
              <a:t>• Confirm PoC deployment target (VM / Kubernetes / evaluation VLAN)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6EDF3"/>
                </a:solidFill>
                <a:latin typeface="Segoe UI"/>
              </a:rPr>
              <a:t>• Identify 3-5 historical investigations for replay validation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6EDF3"/>
                </a:solidFill>
                <a:latin typeface="Segoe UI"/>
              </a:rPr>
              <a:t>• Nominate technical evaluator and security architect for weekly cadence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5379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B96A5"/>
                </a:solidFill>
                <a:latin typeface="Segoe UI"/>
              </a:rPr>
              <a:t>NivXRay · Customer Technical Deck · Draft · 2026-08-11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