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vxray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463040" cy="1463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9456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E5E7EB"/>
                </a:solidFill>
                <a:latin typeface="Calibri"/>
              </a:rPr>
              <a:t>NIVXRAY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DECODER / THREAT-LAB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v2.0 · Feb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onsolas"/>
              </a:rPr>
              <a:t>nivxray.nivxforge.com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SALES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713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5E7EB"/>
                </a:solidFill>
                <a:latin typeface="Calibri"/>
              </a:rPr>
              <a:t>Turn one obfuscated</a:t>
            </a:r>
          </a:p>
          <a:p>
            <a:pPr algn="l"/>
            <a:r>
              <a:rPr sz="4000" b="1" i="0">
                <a:solidFill>
                  <a:srgbClr val="E5E7EB"/>
                </a:solidFill>
                <a:latin typeface="Calibri"/>
              </a:rPr>
              <a:t>PowerShell one-liner</a:t>
            </a:r>
          </a:p>
          <a:p>
            <a:pPr algn="l"/>
            <a:r>
              <a:rPr sz="4000" b="1" i="0">
                <a:solidFill>
                  <a:srgbClr val="E5E7EB"/>
                </a:solidFill>
                <a:latin typeface="Calibri"/>
              </a:rPr>
              <a:t>into a full SOC verdict</a:t>
            </a:r>
          </a:p>
          <a:p>
            <a:pPr algn="l"/>
            <a:r>
              <a:rPr sz="4000" b="1" i="0">
                <a:solidFill>
                  <a:srgbClr val="E5E7EB"/>
                </a:solidFill>
                <a:latin typeface="Calibri"/>
              </a:rPr>
              <a:t>in under 8 seconds.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93776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8B949E"/>
                </a:solidFill>
                <a:latin typeface="Calibri"/>
              </a:rPr>
              <a:t>Hybrid deterministic + LLM analyst platform. 97 decoder ops. MITRE / LOLBAS / YARA mapped. Built for tier-1 to tier-3 SOC teams.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Analysts drown in encoded payloads.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Every alert ships with a base64/gzip/xor blob. Manual triage costs minutes per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6032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CyberChef is a toolbox, not a decision engine.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Analyst still owns 100 % of the interpretation.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Sandboxes are slow and noisy.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7588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3-10 minutes per detonation, no unified verdict, no MITRE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0624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EDR tells you SOMETHING ran — not WHAT it does.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9884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Command-line telemetry arrives obfuscated by design.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LLM-only triage hallucinates.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2180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Without deterministic ground truth, verdicts drift.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OUR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NivXRay — deterministic first, LLM only when it earns its keep.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A hybrid pipeline that races 97 decoders, matches known wrapper archetypes, then hands the aggregate to a MoE analyst panel.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3657600" cy="32918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3657600" cy="54864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DETERMINISTIC 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97 decode ops · 40+ wrapper archetypes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Base64 / Gzip / RC4 / XOR / UTF-16LE / raw-DEFLATE salvage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PowerShell variable resolver · shellcode prologue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651760"/>
            <a:ext cx="3657600" cy="32918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651760"/>
            <a:ext cx="3657600" cy="54864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THREAT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33756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VirusTotal · AlienVault OTX · AbuseIPDB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URLScan · Hybrid Analysis · Shodan · GreyNoise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Live IOC enrichment + auto-defang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651760"/>
            <a:ext cx="3657600" cy="329184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2651760"/>
            <a:ext cx="3657600" cy="54864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8803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AI ANALYST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333756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MoE panel: Malware / Red-Team / Defensive + Synthesizer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Investigation timelines · Attack-path graph</a:t>
            </a:r>
          </a:p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Analyst Corrections feedback loop ("Teach NivXRay")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PRODUCT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One workspace. Zero context-switching.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Paste any payload → verdict + MITRE + LOLBAS + attack graph in one screen.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0881360" cy="384048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0">
                <a:solidFill>
                  <a:srgbClr val="6B7075"/>
                </a:solidFill>
                <a:latin typeface="Consolas"/>
              </a:rPr>
              <a:t>[ Workspace screenshot 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The numbers that actually land in a QBR.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Measured across 12 SOC design partners, Q4-2025 → Q1-2026.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890"/>
                </a:solidFill>
                <a:latin typeface="Calibri"/>
              </a:rPr>
              <a:t>&lt; 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VERDICT PER STAGE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5CC0A5"/>
                </a:solidFill>
                <a:latin typeface="Calibri"/>
              </a:rPr>
              <a:t>87 %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DECODER COVERAGE BEFORE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27E5D"/>
                </a:solidFill>
                <a:latin typeface="Calibri"/>
              </a:rPr>
              <a:t>−72 %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MEAN TRIAGE 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651760"/>
            <a:ext cx="2606040" cy="137160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78892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4AA890"/>
                </a:solidFill>
                <a:latin typeface="Calibri"/>
              </a:rPr>
              <a:t>100 %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52044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B7075"/>
                </a:solidFill>
                <a:latin typeface="Consolas"/>
              </a:rPr>
              <a:t>AUDIT TRAIL (DETERMINISTIC RECIPE)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  <a:latin typeface="Calibri"/>
              </a:rPr>
              <a:t>Every finding ships with a deterministic recipe — analysts can replay it, test it, and pin it as a regression. No 'the LLM said so' verdicts.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PROOF · REAL PAYLOAD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Empire-style PowerShell one-liner → verdict in one click.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Input on the left, aggregate SOC verdict on the right. No manual step in between.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5486400" cy="356616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890"/>
                </a:solidFill>
                <a:latin typeface="Consolas"/>
              </a:rPr>
              <a:t>INPUT · one paste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063240"/>
            <a:ext cx="5212080" cy="3017520"/>
          </a:xfrm>
          <a:prstGeom prst="rect">
            <a:avLst/>
          </a:prstGeom>
          <a:solidFill>
            <a:srgbClr val="0A0B0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154680"/>
            <a:ext cx="4992624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8B949E"/>
                </a:solidFill>
                <a:latin typeface="Consolas"/>
              </a:rPr>
              <a:t>powershell.exe -NoProfile -WindowStyle Hidden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-NonInteractive -Command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"IO.Compression.GzipStream"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$b='H4sICD12mFwCA2NvZGUAc0v...';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$m=New-Object IO.MemoryStream(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,[Convert]::FromBase64String($b));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$g=New-Object IO.Compression.GzipStream(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$m,[IO.Compression.CompressionMode]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   ::Decompress);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$r=New-Object IO.StreamReader($g);</a:t>
            </a:r>
          </a:p>
          <a:p>
            <a:r>
              <a:rPr sz="1100">
                <a:solidFill>
                  <a:srgbClr val="8B949E"/>
                </a:solidFill>
                <a:latin typeface="Consolas"/>
              </a:rPr>
              <a:t>  IEX $r.ReadToEnd();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606040"/>
            <a:ext cx="5120640" cy="356616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6974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AA890"/>
                </a:solidFill>
                <a:latin typeface="Consolas"/>
              </a:rPr>
              <a:t>OUTPUT · unified SOC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10896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27E5D"/>
                </a:solidFill>
                <a:latin typeface="Consolas"/>
              </a:rPr>
              <a:t>MALICIOUS · 100/100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onsolas"/>
              </a:rPr>
              <a:t>Family: Destructive Wiper / Ransomware Precursor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68503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CC0A5"/>
                </a:solidFill>
                <a:latin typeface="Consolas"/>
              </a:rPr>
              <a:t>Engine: archetype:PS_MemoryStream_Gzip_IEX (conf 100)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94106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MITRE: T1059.001 · T1140 · T1490 · T1070.001 · T1485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197096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LOLBAS: powershell, vssadmin, wbadmin, wevtutil,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453128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        fsutil, cipher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709160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onsolas"/>
              </a:rPr>
              <a:t>Kill-chain: 3-stage · chain-amplified risk +5/stage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965192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0" i="0">
                <a:solidFill>
                  <a:srgbClr val="E5E7EB"/>
                </a:solidFill>
                <a:latin typeface="Consola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21224"/>
            <a:ext cx="4846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Time to verdict: 3.4 s (deterministic path)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WHERE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vs. the tools your team already uses.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Not a replacement for EDR — the layer between raw command-line and the incident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6B7075"/>
                </a:solidFill>
                <a:latin typeface="Consolas"/>
              </a:rPr>
              <a:t>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060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B7075"/>
                </a:solidFill>
                <a:latin typeface="Consolas"/>
              </a:rPr>
              <a:t>CYBERCHEF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060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B7075"/>
                </a:solidFill>
                <a:latin typeface="Consolas"/>
              </a:rPr>
              <a:t>ANY.RUN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60604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6B7075"/>
                </a:solidFill>
                <a:latin typeface="Consolas"/>
              </a:rPr>
              <a:t>JOE SANDBOX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6060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4AA890"/>
                </a:solidFill>
                <a:latin typeface="Consolas"/>
              </a:rPr>
              <a:t>NIVXRAY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10881360" cy="18288"/>
          </a:xfrm>
          <a:prstGeom prst="rect">
            <a:avLst/>
          </a:prstGeom>
          <a:solidFill>
            <a:srgbClr val="2D31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953512"/>
            <a:ext cx="10972800" cy="27432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87+ decoder 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7180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7180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97180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9718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644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Multi-stage chain aggr.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26440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6440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326440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26440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38728"/>
            <a:ext cx="10972800" cy="27432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5701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LOLBAS auto-attribution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55701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55701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27E5D"/>
                </a:solidFill>
                <a:latin typeface="Consolas"/>
              </a:rPr>
              <a:t>partial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355701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E27E5D"/>
                </a:solidFill>
                <a:latin typeface="Consolas"/>
              </a:rPr>
              <a:t>partial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55701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84962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MITRE ATT&amp;CK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384962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4962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84962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384962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123944"/>
            <a:ext cx="10972800" cy="27432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14223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Analyst-teaches-tool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14223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14223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414223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414223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434840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Threat-intel enrichment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44348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4348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80" y="443484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4348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709160"/>
            <a:ext cx="10972800" cy="27432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2744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Deterministic recipe out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472744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72744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80" y="47274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4727448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50200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MoE analyst panel (LLM)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502005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09360" y="502005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55280" y="502005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50200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" y="5294376"/>
            <a:ext cx="10972800" cy="274320"/>
          </a:xfrm>
          <a:prstGeom prst="rect">
            <a:avLst/>
          </a:prstGeom>
          <a:solidFill>
            <a:srgbClr val="171A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53126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Attack-path graph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63440" y="531266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531266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55280" y="531266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312664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560527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On-prem / air-gapped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560527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60527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B7075"/>
                </a:solidFill>
                <a:latin typeface="Consolas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0" y="560527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92640" y="5605272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5CC0A5"/>
                </a:solidFill>
                <a:latin typeface="Consolas"/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BUYER PERSONAS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Built for three seats — priced for the security budget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651760"/>
            <a:ext cx="10881360" cy="105156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73152" cy="1051560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A890"/>
                </a:solidFill>
                <a:latin typeface="Consolas"/>
              </a:rPr>
              <a:t>SOC LEAD / MSSP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Cut analyst wheel-spin on obfuscation. Ship reproducible verdicts to clients.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0881360" cy="105156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7764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CC0A5"/>
                </a:solidFill>
                <a:latin typeface="Consolas"/>
              </a:rPr>
              <a:t>DETECTION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Turn every triaged payload into a YARA/Sigma seed with one click.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29200"/>
            <a:ext cx="10881360" cy="105156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029200"/>
            <a:ext cx="73152" cy="1051560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7E5D"/>
                </a:solidFill>
                <a:latin typeface="Consolas"/>
              </a:rPr>
              <a:t>IR / THREAT HUNTER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B949E"/>
                </a:solidFill>
                <a:latin typeface="Calibri"/>
              </a:rPr>
              <a:t>Chain multi-stage ClickFix loaders and get one MITRE-mapped narrative.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DEPLOY &amp;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Runs where your SOC data has to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Calibri"/>
              </a:rPr>
              <a:t>SaaS, private cloud, or fully air-gapped with an offline LLM. Same feature parity.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Deployment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SaaS (single-tenant) · Docker Compose · Kubernetes Helm · Air-gapped bundle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290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2900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Data residency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2160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You bring your own MongoDB + object store. No payload leaves the tenant.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Auth &amp;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4456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JWT + owner-scoped investigations · full recipe replay · role-based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74920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5E7EB"/>
                </a:solidFill>
                <a:latin typeface="Calibri"/>
              </a:rPr>
              <a:t>LLM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67528"/>
            <a:ext cx="10652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Calibri"/>
              </a:rPr>
              <a:t>Ships with pluggable providers · offline fine-tuned model available for high-trust envs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E5E7EB"/>
                </a:solidFill>
                <a:latin typeface="Calibri"/>
              </a:rPr>
              <a:t>Shipped, shipping,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5486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606040"/>
            <a:ext cx="3657600" cy="393192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3657600" cy="54864"/>
          </a:xfrm>
          <a:prstGeom prst="rect">
            <a:avLst/>
          </a:prstGeom>
          <a:solidFill>
            <a:srgbClr val="5CC0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CC0A5"/>
                </a:solidFill>
                <a:latin typeface="Consolas"/>
              </a:rPr>
              <a:t>SHIPPED · Q1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918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87 decoder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03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Wrapper archetypes v2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14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MoE analyst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26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Analyst corrections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37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9377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Multi-stage chain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Destructive-wiper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607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5CC0A5"/>
                </a:solidFill>
                <a:latin typeface="Consolas"/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7607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Corrupt-gzip salvage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2606040"/>
            <a:ext cx="3657600" cy="393192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606040"/>
            <a:ext cx="3657600" cy="54864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4AA890"/>
                </a:solidFill>
                <a:latin typeface="Consolas"/>
              </a:rPr>
              <a:t>NEXT · Q2 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2918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RSS threat-intel crawler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3703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Change-password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4114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Full-chain re-aggregation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4526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Chain-break red edges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4937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49377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Reverse-engineering page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3492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A890"/>
                </a:solidFill>
                <a:latin typeface="Consolas"/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53492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STIX 2.1 export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606040"/>
            <a:ext cx="3657600" cy="3931920"/>
          </a:xfrm>
          <a:prstGeom prst="rect">
            <a:avLst/>
          </a:prstGeom>
          <a:solidFill>
            <a:srgbClr val="171A1C"/>
          </a:solidFill>
          <a:ln w="12700">
            <a:solidFill>
              <a:srgbClr val="2D31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2606040"/>
            <a:ext cx="3657600" cy="54864"/>
          </a:xfrm>
          <a:prstGeom prst="rect">
            <a:avLst/>
          </a:prstGeom>
          <a:solidFill>
            <a:srgbClr val="E27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28346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27E5D"/>
                </a:solidFill>
                <a:latin typeface="Consolas"/>
              </a:rPr>
              <a:t>VISION · H2 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29184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329184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Auto-benchmarking harness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200" y="370332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703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Offline-LLM fine-tuning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200" y="411480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32520" y="41148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TAXII 2.1 push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52628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5262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Detection-engineering copilot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58200" y="4937760"/>
            <a:ext cx="274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7E5D"/>
                </a:solidFill>
                <a:latin typeface="Consolas"/>
              </a:rPr>
              <a:t>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493776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  <a:latin typeface="Calibri"/>
              </a:rPr>
              <a:t>Live IR collaboration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1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ivxray-mark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972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4AA890"/>
                </a:solidFill>
                <a:latin typeface="Consolas"/>
              </a:rPr>
              <a:t>READY TO TRIAGE THE HARD ONE?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E5E7EB"/>
                </a:solidFill>
                <a:latin typeface="Calibri"/>
              </a:rPr>
              <a:t>Book a 30-minute live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>
                <a:solidFill>
                  <a:srgbClr val="8B949E"/>
                </a:solidFill>
                <a:latin typeface="Calibri"/>
              </a:rPr>
              <a:t>Bring us your worst PowerShell one-liner. We'll verdict it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4937760"/>
            <a:ext cx="5394960" cy="1097280"/>
          </a:xfrm>
          <a:prstGeom prst="rect">
            <a:avLst/>
          </a:prstGeom>
          <a:solidFill>
            <a:srgbClr val="171A1C"/>
          </a:solidFill>
          <a:ln w="12700">
            <a:solidFill>
              <a:srgbClr val="4AA8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50749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4AA890"/>
                </a:solidFill>
                <a:latin typeface="Consolas"/>
              </a:rPr>
              <a:t>sales@nivxforge.com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486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Consolas"/>
              </a:rPr>
              <a:t>https://nivxray.nivxforge.com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320040" cy="36576"/>
          </a:xfrm>
          <a:prstGeom prst="rect">
            <a:avLst/>
          </a:prstGeom>
          <a:solidFill>
            <a:srgbClr val="4AA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3550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6B7075"/>
                </a:solidFill>
                <a:latin typeface="Consolas"/>
              </a:rPr>
              <a:t>NIVXRAY · SALES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35508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Consolas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