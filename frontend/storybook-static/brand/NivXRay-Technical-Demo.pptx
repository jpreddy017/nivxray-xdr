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7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ivxray-mark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46304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1945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E5E7EB"/>
                </a:solidFill>
                <a:latin typeface="Calibri"/>
              </a:rPr>
              <a:t>NIVXRAY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A890"/>
                </a:solidFill>
                <a:latin typeface="Consolas"/>
              </a:rPr>
              <a:t>TECHNICAL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v2.0 · Feb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nsolas"/>
              </a:rPr>
              <a:t>Deep-dive · 45 min · live payload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890"/>
                </a:solidFill>
                <a:latin typeface="Consolas"/>
              </a:rPr>
              <a:t>TECHNICAL WALKTHROUGH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65960"/>
            <a:ext cx="7132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E5E7EB"/>
                </a:solidFill>
                <a:latin typeface="Calibri"/>
              </a:rPr>
              <a:t>Inside the pipeline:</a:t>
            </a:r>
          </a:p>
          <a:p>
            <a:pPr algn="l"/>
            <a:r>
              <a:rPr sz="3800" b="1" i="0">
                <a:solidFill>
                  <a:srgbClr val="E5E7EB"/>
                </a:solidFill>
                <a:latin typeface="Calibri"/>
              </a:rPr>
              <a:t>archetypes, magic race,</a:t>
            </a:r>
          </a:p>
          <a:p>
            <a:pPr algn="l"/>
            <a:r>
              <a:rPr sz="3800" b="1" i="0">
                <a:solidFill>
                  <a:srgbClr val="E5E7EB"/>
                </a:solidFill>
                <a:latin typeface="Calibri"/>
              </a:rPr>
              <a:t>MoE panel, chain aggregator.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93776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B949E"/>
                </a:solidFill>
                <a:latin typeface="Calibri"/>
              </a:rPr>
              <a:t>97 ops · 40+ wrappers · 12 threat-intel sources · one deterministic recipe.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46520"/>
            <a:ext cx="3200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NIVXRAY · TECHNICAL · INTERNAL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nsolas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890"/>
                </a:solidFill>
                <a:latin typeface="Consola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Calibri"/>
              </a:rPr>
              <a:t>React + FastAPI + MongoDB. Everything else is optional.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Calibri"/>
              </a:rPr>
              <a:t>Stateless API, single Mongo, pluggable LLM. Runs on 2 vCPU / 4 GB in prod.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5486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10881360" cy="64008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606040"/>
            <a:ext cx="73152" cy="640080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4AA890"/>
                </a:solidFill>
                <a:latin typeface="Consola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0604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React 19 · shadcn/ui · Cytoscape (attack graph) · React-Router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55848"/>
            <a:ext cx="10881360" cy="64008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55848"/>
            <a:ext cx="73152" cy="640080"/>
          </a:xfrm>
          <a:prstGeom prst="rect">
            <a:avLst/>
          </a:prstGeom>
          <a:solidFill>
            <a:srgbClr val="5CC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5584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5CC0A5"/>
                </a:solidFill>
                <a:latin typeface="Consolas"/>
              </a:rP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35584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FastAPI · Pydantic v2 · JWT auth · SSE streaming for long LLM calls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05656"/>
            <a:ext cx="10881360" cy="64008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105656"/>
            <a:ext cx="73152" cy="640080"/>
          </a:xfrm>
          <a:prstGeom prst="rect">
            <a:avLst/>
          </a:prstGeom>
          <a:solidFill>
            <a:srgbClr val="E27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05656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E27E5D"/>
                </a:solidFill>
                <a:latin typeface="Consolas"/>
              </a:rPr>
              <a:t>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105656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Wrapper archetypes · Magic decoder · MoE panel · Threat-model assessor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855464"/>
            <a:ext cx="10881360" cy="64008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855464"/>
            <a:ext cx="73152" cy="64008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55464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8B949E"/>
                </a:solidFill>
                <a:latin typeface="Consolas"/>
              </a:rPr>
              <a:t>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55464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MongoDB (investigations, users, corrections, KB, feeds)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605272"/>
            <a:ext cx="10881360" cy="64008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605272"/>
            <a:ext cx="73152" cy="640080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0527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4AA890"/>
                </a:solidFill>
                <a:latin typeface="Consolas"/>
              </a:rPr>
              <a:t>INTEGRATIONS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60527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Emergent LLM key (Claude 4.5 Sonnet) · VirusTotal · OTX · AbuseIPDB · URLScan · Shodan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46520"/>
            <a:ext cx="3200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NIVXRAY · TECHNICAL · INTERNAL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nsolas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890"/>
                </a:solidFill>
                <a:latin typeface="Consolas"/>
              </a:rPr>
              <a:t>DECODING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Calibri"/>
              </a:rPr>
              <a:t>Deterministic first. LLM only when confidence &lt; 40 %.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Calibri"/>
              </a:rPr>
              <a:t>6 gated stages. Every stage produces a machine-checkable recipe.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5486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2103120" cy="54864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4AA890"/>
                </a:solidFill>
                <a:latin typeface="Consolas"/>
              </a:rPr>
              <a:t>1. PRE-CLEAN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60604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PS variable resolver · unicode normalisation · quote-mangling fixups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00400"/>
            <a:ext cx="2103120" cy="54864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4AA890"/>
                </a:solidFill>
                <a:latin typeface="Consolas"/>
              </a:rPr>
              <a:t>2. ARCHETYPES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20040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40+ named wrapper handlers (Empire, Cobalt, MSF, Bash gzip pipe, Node Buffer, …)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94760"/>
            <a:ext cx="2103120" cy="54864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4AA890"/>
                </a:solidFill>
                <a:latin typeface="Consolas"/>
              </a:rPr>
              <a:t>3. MAGIC RACE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7947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Candidate scoring across base64/hex/url/gzip/zlib/lzma/bzip2/xor/rc4/utf16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389120"/>
            <a:ext cx="2103120" cy="54864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4AA890"/>
                </a:solidFill>
                <a:latin typeface="Consolas"/>
              </a:rPr>
              <a:t>4. BOOST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38912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Recursive re-entry on decoded output (max depth 6) — catches nested stagers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983480"/>
            <a:ext cx="2103120" cy="54864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834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4AA890"/>
                </a:solidFill>
                <a:latin typeface="Consolas"/>
              </a:rPr>
              <a:t>5. AGGREGATE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98348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Merge IOCs / MITRE / LOLBAS / YARA / kill-chain across stages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577840"/>
            <a:ext cx="2103120" cy="54864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5778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4AA890"/>
                </a:solidFill>
                <a:latin typeface="Consolas"/>
              </a:rPr>
              <a:t>6. LLM NARRATIVE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57784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ONE call across the full aggregate → analyst-grade description + verdict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46520"/>
            <a:ext cx="3200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NIVXRAY · TECHNICAL · INTERNAL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nsolas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890"/>
                </a:solidFill>
                <a:latin typeface="Consolas"/>
              </a:rPr>
              <a:t>WRAPPER ARCHETYPES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Calibri"/>
              </a:rPr>
              <a:t>Named handlers beat generic decoders every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Calibri"/>
              </a:rPr>
              <a:t>Each archetype = regex + fixed chain + pytest regression. Chain-of-archetypes to depth 4.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5486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E5E7EB"/>
                </a:solidFill>
                <a:latin typeface="Consolas"/>
              </a:rPr>
              <a:t>PS_MemoryStream_Gzip_IEX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072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alibri"/>
              </a:rPr>
              <a:t>Empire / Cobalt one-liner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E5E7EB"/>
                </a:solidFill>
                <a:latin typeface="Consolas"/>
              </a:rPr>
              <a:t>PS_MemoryStream_Deflate_IEX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101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alibri"/>
              </a:rPr>
              <a:t>Deflate variant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CC0A5"/>
                </a:solidFill>
                <a:latin typeface="Consolas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E5E7EB"/>
                </a:solidFill>
                <a:latin typeface="Consolas"/>
              </a:rPr>
              <a:t>PS_FromBase64String_UTF16LE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130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alibri"/>
              </a:rPr>
              <a:t>-EncodedCommand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27E5D"/>
                </a:solidFill>
                <a:latin typeface="Consolas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14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E5E7EB"/>
                </a:solidFill>
                <a:latin typeface="Consolas"/>
              </a:rPr>
              <a:t>PS_MSF_XOR_Stage2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159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alibri"/>
              </a:rPr>
              <a:t>Meterpreter reflective loader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CC0A5"/>
                </a:solidFill>
                <a:latin typeface="Consolas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17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E5E7EB"/>
                </a:solidFill>
                <a:latin typeface="Consolas"/>
              </a:rPr>
              <a:t>PS_ASCII_XOR_IEX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188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alibri"/>
              </a:rPr>
              <a:t>(int,int,…) | %{[char]($_ -bxor k)}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12064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120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E5E7EB"/>
                </a:solidFill>
                <a:latin typeface="Consolas"/>
              </a:rPr>
              <a:t>PS_BINARY_SPLIT_TOINT16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218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alibri"/>
              </a:rPr>
              <a:t>Invoke-Obfuscation binary array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6235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CC0A5"/>
                </a:solidFill>
                <a:latin typeface="Consolas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23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E5E7EB"/>
                </a:solidFill>
                <a:latin typeface="Consolas"/>
              </a:rPr>
              <a:t>PS_STRING_CONCAT / -join / -f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8247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alibri"/>
              </a:rPr>
              <a:t>Split-join / format obfuscation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1264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B949E"/>
                </a:solidFill>
                <a:latin typeface="Consolas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6126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E5E7EB"/>
                </a:solidFill>
                <a:latin typeface="Consolas"/>
              </a:rPr>
              <a:t>PS_REVERSE_STRING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3276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alibri"/>
              </a:rPr>
              <a:t>-join ('...'[-1..-N])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260604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606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E5E7EB"/>
                </a:solidFill>
                <a:latin typeface="Consolas"/>
              </a:rPr>
              <a:t>Bash_base64_gunzip_pipe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8072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alibri"/>
              </a:rPr>
              <a:t>echo &lt;b64&gt; | base64 -d | gunzip | bash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1089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E5E7EB"/>
                </a:solidFill>
                <a:latin typeface="Consolas"/>
              </a:rPr>
              <a:t>Bash_base64_pipe_bash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3101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alibri"/>
              </a:rPr>
              <a:t>echo &lt;b64&gt; | base64 -d | bash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36118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27E5D"/>
                </a:solidFill>
                <a:latin typeface="Consolas"/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611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E5E7EB"/>
                </a:solidFill>
                <a:latin typeface="Consolas"/>
              </a:rPr>
              <a:t>Node_Buffer_from_gunzip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8130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alibri"/>
              </a:rPr>
              <a:t>Buffer.from(&lt;b64&gt;,'base64') + zlib.gunzipSync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1148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CC0A5"/>
                </a:solidFill>
                <a:latin typeface="Consolas"/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114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E5E7EB"/>
                </a:solidFill>
                <a:latin typeface="Consolas"/>
              </a:rPr>
              <a:t>JS_STRING_FROMCHARCODE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3159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alibri"/>
              </a:rPr>
              <a:t>SocGholish / Fake-Update injects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61772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B949E"/>
                </a:solidFill>
                <a:latin typeface="Consolas"/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4617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E5E7EB"/>
                </a:solidFill>
                <a:latin typeface="Consolas"/>
              </a:rPr>
              <a:t>BATCH_VAR_SLICE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8188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alibri"/>
              </a:rPr>
              <a:t>@set v=… &amp; %v:~x,y%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512064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5120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E5E7EB"/>
                </a:solidFill>
                <a:latin typeface="Consolas"/>
              </a:rPr>
              <a:t>PS variable indirection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53218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alibri"/>
              </a:rPr>
              <a:t>Feb-2026 · resolve $b='…' before match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56235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27E5D"/>
                </a:solidFill>
                <a:latin typeface="Consolas"/>
              </a:rPr>
              <a:t>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5623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E5E7EB"/>
                </a:solidFill>
                <a:latin typeface="Consolas"/>
              </a:rPr>
              <a:t>Corrupt-gzip salvage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58247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alibri"/>
              </a:rPr>
              <a:t>Feb-2026 · raw-DEFLATE fallback on bad CRC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61264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CC0A5"/>
                </a:solidFill>
                <a:latin typeface="Consolas"/>
              </a:rPr>
              <a:t>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6126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E5E7EB"/>
                </a:solidFill>
                <a:latin typeface="Consolas"/>
              </a:rPr>
              <a:t>Chain-of-archetypes (depth 4)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63276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alibri"/>
              </a:rPr>
              <a:t>Stage-2 unwraps into Stage-3 automatically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6446520"/>
            <a:ext cx="3200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NIVXRAY · TECHNICAL · INTERNAL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nsolas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890"/>
                </a:solidFill>
                <a:latin typeface="Consolas"/>
              </a:rPr>
              <a:t>MULTI-STAGE CHAIN ANALYSER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Calibri"/>
              </a:rPr>
              <a:t>One paste. N stages. One SOC verdict.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Calibri"/>
              </a:rPr>
              <a:t>POST /api/decode/chain aggregates per-stage findings + amplifies risk on chain length.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5486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5486400" cy="3657600"/>
          </a:xfrm>
          <a:prstGeom prst="rect">
            <a:avLst/>
          </a:prstGeom>
          <a:solidFill>
            <a:srgbClr val="0A0B0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526694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4AA890"/>
                </a:solidFill>
                <a:latin typeface="Consolas"/>
              </a:rPr>
              <a:t>$ curl -X POST $API/api/decode/chain \</a:t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>    -H "Authorization: Bearer $JWT" \</a:t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>    -d '{</a:t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>      "stages": [</a:t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>        {"input": "powershell.exe -NoP …"},</a:t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>        {"input": "certutil -urlcache -f …"},</a:t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>        {"input": "vssadmin delete shadows …"}</a:t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>      ]</a:t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>    }'</a:t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>→ stages[3] · aggregate:</a:t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>    family: Destructive Wiper / Ransomware Precursor</a:t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>    verdict: Malicious · 100/100 · chain-amplified</a:t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>    kill_chain: [T1059.001, T1140, T1490, T1485]</a:t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>    lolbas: 6 unique wiper binaries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06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6060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5E7EB"/>
                </a:solidFill>
                <a:latin typeface="Calibri"/>
              </a:rPr>
              <a:t>Blank-line paste auto-splits.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898648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splitCommandLines() + newline heuristics.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4290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4290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5E7EB"/>
                </a:solidFill>
                <a:latin typeface="Calibri"/>
              </a:rPr>
              <a:t>Per-stage RE-RUN.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721608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Edit a stage, replay only the tail — full re-aggregate coming Q2.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519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2519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5E7EB"/>
                </a:solidFill>
                <a:latin typeface="Calibri"/>
              </a:rPr>
              <a:t>AI narrative on WHOLE chain.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544568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ONE LLM call · SSE-streamed · Cloudflare-524 immune.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749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50749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5E7EB"/>
                </a:solidFill>
                <a:latin typeface="Calibri"/>
              </a:rPr>
              <a:t>Export .MD / .JSON / STIX 2.1 (P1).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5367528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Every verdict shippable to a ticket in one click.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46520"/>
            <a:ext cx="3200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NIVXRAY · TECHNICAL · INTERNAL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nsolas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890"/>
                </a:solidFill>
                <a:latin typeface="Consolas"/>
              </a:rPr>
              <a:t>MOE ANALYST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Calibri"/>
              </a:rPr>
              <a:t>Three critics + a synthesizer. Disagreement is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Calibri"/>
              </a:rPr>
              <a:t>Runs on the FULL aggregate. Emits consensus + disagreements as first-class fields.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5486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10881360" cy="77724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606040"/>
            <a:ext cx="73152" cy="777240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4AA890"/>
                </a:solidFill>
                <a:latin typeface="Consolas"/>
              </a:rPr>
              <a:t>MALWARE 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606040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Family attribution · packer detection · capability tags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74720"/>
            <a:ext cx="10881360" cy="77724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474720"/>
            <a:ext cx="73152" cy="777240"/>
          </a:xfrm>
          <a:prstGeom prst="rect">
            <a:avLst/>
          </a:prstGeom>
          <a:solidFill>
            <a:srgbClr val="E27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E27E5D"/>
                </a:solidFill>
                <a:latin typeface="Consolas"/>
              </a:rPr>
              <a:t>RED-TEAM CRITIC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474720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Evasion techniques · living-off-the-land opportunities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3400"/>
            <a:ext cx="10881360" cy="77724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43400"/>
            <a:ext cx="73152" cy="777240"/>
          </a:xfrm>
          <a:prstGeom prst="rect">
            <a:avLst/>
          </a:prstGeom>
          <a:solidFill>
            <a:srgbClr val="5CC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5CC0A5"/>
                </a:solidFill>
                <a:latin typeface="Consolas"/>
              </a:rPr>
              <a:t>DEFENSIVE CRITIC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343400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Detection gaps · response actions · containment steps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12080"/>
            <a:ext cx="10881360" cy="77724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212080"/>
            <a:ext cx="73152" cy="7772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E5E7EB"/>
                </a:solidFill>
                <a:latin typeface="Consolas"/>
              </a:rPr>
              <a:t>SYNTHESIZER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5212080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Consensus + explicit disagreements + confidence dial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075"/>
                </a:solidFill>
                <a:latin typeface="Calibri"/>
              </a:rPr>
              <a:t>Anti-hallucination: synthesizer refuses claims not backed by aggregate evidence.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46520"/>
            <a:ext cx="3200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NIVXRAY · TECHNICAL · INTERNAL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nsolas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890"/>
                </a:solidFill>
                <a:latin typeface="Consolas"/>
              </a:rPr>
              <a:t>TEACH NIVXRAY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Calibri"/>
              </a:rPr>
              <a:t>Analyst corrections feed the deterministic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Calibri"/>
              </a:rPr>
              <a:t>4-verdict picker + versioned overrides + admin approval queue.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5486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2651760" cy="201168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606040"/>
            <a:ext cx="2651760" cy="54864"/>
          </a:xfrm>
          <a:prstGeom prst="rect">
            <a:avLst/>
          </a:prstGeom>
          <a:solidFill>
            <a:srgbClr val="E55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55A4A"/>
                </a:solidFill>
                <a:latin typeface="Consolas"/>
              </a:rPr>
              <a:t>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  <a:latin typeface="Calibri"/>
              </a:rPr>
              <a:t>Deterministic override — future analyses drop the wrong finding.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0712" y="2606040"/>
            <a:ext cx="2651760" cy="201168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0712" y="2606040"/>
            <a:ext cx="2651760" cy="54864"/>
          </a:xfrm>
          <a:prstGeom prst="rect">
            <a:avLst/>
          </a:prstGeom>
          <a:solidFill>
            <a:srgbClr val="E27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28803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27E5D"/>
                </a:solidFill>
                <a:latin typeface="Consolas"/>
              </a:rPr>
              <a:t>PARTIAL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42900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  <a:latin typeface="Calibri"/>
              </a:rPr>
              <a:t>Steer the LLM without deleting the finding.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2606040"/>
            <a:ext cx="2651760" cy="201168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2606040"/>
            <a:ext cx="2651760" cy="54864"/>
          </a:xfrm>
          <a:prstGeom prst="rect">
            <a:avLst/>
          </a:prstGeom>
          <a:solidFill>
            <a:srgbClr val="5CC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28803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5CC0A5"/>
                </a:solidFill>
                <a:latin typeface="Consolas"/>
              </a:rPr>
              <a:t>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342900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  <a:latin typeface="Calibri"/>
              </a:rPr>
              <a:t>Positive reinforcement — no override, tracked for accuracy.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51976" y="2606040"/>
            <a:ext cx="2651760" cy="201168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51976" y="2606040"/>
            <a:ext cx="2651760" cy="54864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28803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4AA890"/>
                </a:solidFill>
                <a:latin typeface="Consolas"/>
              </a:rPr>
              <a:t>SUGGEST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342900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  <a:latin typeface="Calibri"/>
              </a:rPr>
              <a:t>Advisory improvement — LLM-inject only, never blocking.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10881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B949E"/>
                </a:solidFill>
                <a:latin typeface="Calibri"/>
              </a:rPr>
              <a:t>Admin dashboard at /admin/corrections shows: 10 metric buckets, by-surface heatmap, top reused, FP/FN signal, reviewer stats, avg approval time, 7-day trend.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46520"/>
            <a:ext cx="3200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NIVXRAY · TECHNICAL · INTERNAL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nsolas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890"/>
                </a:solidFill>
                <a:latin typeface="Consolas"/>
              </a:rPr>
              <a:t>THREAT-INTEL ENRICHMENT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Calibri"/>
              </a:rPr>
              <a:t>Every extracted IOC is enriched — no manual pivoting.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Calibri"/>
              </a:rPr>
              <a:t>Parallel calls to 8+ sources, deduped, cached, defanged for safe embed in reports.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5486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5E7EB"/>
                </a:solidFill>
                <a:latin typeface="Consolas"/>
              </a:rPr>
              <a:t>VirusTotal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075"/>
                </a:solidFill>
                <a:latin typeface="Calibri"/>
              </a:rPr>
              <a:t>hash · URL · IP · domain reputation + AV verdicts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5E7EB"/>
                </a:solidFill>
                <a:latin typeface="Consolas"/>
              </a:rPr>
              <a:t>AlienVault OTX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558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075"/>
                </a:solidFill>
                <a:latin typeface="Calibri"/>
              </a:rPr>
              <a:t>pulses · adversary campaigns · TTPs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5E7EB"/>
                </a:solidFill>
                <a:latin typeface="Consolas"/>
              </a:rPr>
              <a:t>AbuseIPDB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587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075"/>
                </a:solidFill>
                <a:latin typeface="Calibri"/>
              </a:rPr>
              <a:t>IP abuse score · report count · 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14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5E7EB"/>
                </a:solidFill>
                <a:latin typeface="Consolas"/>
              </a:rPr>
              <a:t>URLScan.io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616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075"/>
                </a:solidFill>
                <a:latin typeface="Calibri"/>
              </a:rPr>
              <a:t>screenshots · DOM · redirect 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60604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27E5D"/>
                </a:solidFill>
                <a:latin typeface="Consolas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606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5E7EB"/>
                </a:solidFill>
                <a:latin typeface="Consolas"/>
              </a:rPr>
              <a:t>Hybrid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8529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075"/>
                </a:solidFill>
                <a:latin typeface="Calibri"/>
              </a:rPr>
              <a:t>sandbox verdict · related samples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1089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27E5D"/>
                </a:solidFill>
                <a:latin typeface="Consolas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5E7EB"/>
                </a:solidFill>
                <a:latin typeface="Consolas"/>
              </a:rPr>
              <a:t>Shodan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3558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075"/>
                </a:solidFill>
                <a:latin typeface="Calibri"/>
              </a:rPr>
              <a:t>port · service · certificate fingerprint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6118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27E5D"/>
                </a:solidFill>
                <a:latin typeface="Consolas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611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5E7EB"/>
                </a:solidFill>
                <a:latin typeface="Consolas"/>
              </a:rPr>
              <a:t>GreyNoise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8587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075"/>
                </a:solidFill>
                <a:latin typeface="Calibri"/>
              </a:rPr>
              <a:t>internet-noise classification (bg/bening/malicious)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1148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27E5D"/>
                </a:solidFill>
                <a:latin typeface="Consolas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114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5E7EB"/>
                </a:solidFill>
                <a:latin typeface="Consolas"/>
              </a:rPr>
              <a:t>IPinfo / abuse.ch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3616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075"/>
                </a:solidFill>
                <a:latin typeface="Calibri"/>
              </a:rPr>
              <a:t>ASN / geo · Feodo / URLhaus / SSLBL feeds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46520"/>
            <a:ext cx="3200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NIVXRAY · TECHNICAL · INTERNAL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nsolas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890"/>
                </a:solidFill>
                <a:latin typeface="Consolas"/>
              </a:rPr>
              <a:t>PUBLIC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Calibri"/>
              </a:rPr>
              <a:t>One JWT. Nine core endpoints.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Calibri"/>
              </a:rPr>
              <a:t>Full OpenAPI spec at /docs. Every response includes recipe + trace for replay.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5486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10881360" cy="3657600"/>
          </a:xfrm>
          <a:prstGeom prst="rect">
            <a:avLst/>
          </a:prstGeom>
          <a:solidFill>
            <a:srgbClr val="0A0B0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1066190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8B949E"/>
                </a:solidFill>
                <a:latin typeface="Consolas"/>
              </a:rPr>
              <a:t>POST  /api/auth/login                → JWT + role</a:t>
            </a:r>
          </a:p>
          <a:p>
            <a:r>
              <a:rPr sz="1200">
                <a:solidFill>
                  <a:srgbClr val="8B949E"/>
                </a:solidFill>
                <a:latin typeface="Consolas"/>
              </a:rPr>
              <a:t>POST  /api/auth/change-password      → force-rotate seeded creds</a:t>
            </a:r>
          </a:p>
          <a:p>
            <a:r>
              <a:rPr sz="1200">
                <a:solidFill>
                  <a:srgbClr val="8B949E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8B949E"/>
                </a:solidFill>
                <a:latin typeface="Consolas"/>
              </a:rPr>
              <a:t>POST  /api/decode/smart              → hybrid archetype+magic race</a:t>
            </a:r>
          </a:p>
          <a:p>
            <a:r>
              <a:rPr sz="1200">
                <a:solidFill>
                  <a:srgbClr val="8B949E"/>
                </a:solidFill>
                <a:latin typeface="Consolas"/>
              </a:rPr>
              <a:t>POST  /api/decode/chain              → N stages · aggregate verdict</a:t>
            </a:r>
          </a:p>
          <a:p>
            <a:r>
              <a:rPr sz="1200">
                <a:solidFill>
                  <a:srgbClr val="8B949E"/>
                </a:solidFill>
                <a:latin typeface="Consolas"/>
              </a:rPr>
              <a:t>POST  /api/decode/chain/narrative    → ONE LLM narrative on full chain</a:t>
            </a:r>
          </a:p>
          <a:p>
            <a:r>
              <a:rPr sz="1200">
                <a:solidFill>
                  <a:srgbClr val="8B949E"/>
                </a:solidFill>
                <a:latin typeface="Consolas"/>
              </a:rPr>
              <a:t>POST  /api/decode/chain/export       → .md / .json / .stix</a:t>
            </a:r>
          </a:p>
          <a:p>
            <a:r>
              <a:rPr sz="1200">
                <a:solidFill>
                  <a:srgbClr val="8B949E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8B949E"/>
                </a:solidFill>
                <a:latin typeface="Consolas"/>
              </a:rPr>
              <a:t>POST  /api/threat-model/analyze      → Mermaid → threat findings</a:t>
            </a:r>
          </a:p>
          <a:p>
            <a:r>
              <a:rPr sz="1200">
                <a:solidFill>
                  <a:srgbClr val="8B949E"/>
                </a:solidFill>
                <a:latin typeface="Consolas"/>
              </a:rPr>
              <a:t>GET   /api/enrich/ioc                → VT / OTX / Abuse / URLScan / …</a:t>
            </a:r>
          </a:p>
          <a:p>
            <a:r>
              <a:rPr sz="1200">
                <a:solidFill>
                  <a:srgbClr val="8B949E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8B949E"/>
                </a:solidFill>
                <a:latin typeface="Consolas"/>
              </a:rPr>
              <a:t>GET   /api/corrections/analytics     → admin · 10 metric buckets</a:t>
            </a:r>
          </a:p>
          <a:p>
            <a:r>
              <a:rPr sz="1200">
                <a:solidFill>
                  <a:srgbClr val="8B949E"/>
                </a:solidFill>
                <a:latin typeface="Consolas"/>
              </a:rPr>
              <a:t>POST  /api/corrections               → analyst refine (4-verdict)</a:t>
            </a:r>
          </a:p>
          <a:p>
            <a:r>
              <a:rPr sz="1200">
                <a:solidFill>
                  <a:srgbClr val="8B949E"/>
                </a:solidFill>
                <a:latin typeface="Consolas"/>
              </a:rPr>
              <a:t>GET   /api/investigations/{id}       → owner-scoped replay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46520"/>
            <a:ext cx="3200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NIVXRAY · TECHNICAL ·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nsolas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890"/>
                </a:solidFill>
                <a:latin typeface="Consolas"/>
              </a:rPr>
              <a:t>QUALITY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Calibri"/>
              </a:rPr>
              <a:t>Every archetype pinned by a pytest regression.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Calibri"/>
              </a:rPr>
              <a:t>Deterministic layer is auditable — you can prove why a verdict fired.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5486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651760"/>
            <a:ext cx="2606040" cy="137160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4AA890"/>
                </a:solidFill>
                <a:latin typeface="Calibri"/>
              </a:rPr>
              <a:t>115+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075"/>
                </a:solidFill>
                <a:latin typeface="Consolas"/>
              </a:rPr>
              <a:t>PYTEST CASES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651760"/>
            <a:ext cx="2606040" cy="137160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89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5CC0A5"/>
                </a:solidFill>
                <a:latin typeface="Calibri"/>
              </a:rPr>
              <a:t>40+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5204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075"/>
                </a:solidFill>
                <a:latin typeface="Consolas"/>
              </a:rPr>
              <a:t>WRAPPER ARCHETYPES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651760"/>
            <a:ext cx="2606040" cy="137160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7889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E27E5D"/>
                </a:solidFill>
                <a:latin typeface="Calibri"/>
              </a:rPr>
              <a:t>97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5204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075"/>
                </a:solidFill>
                <a:latin typeface="Consolas"/>
              </a:rPr>
              <a:t>DECODER OPS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2651760"/>
            <a:ext cx="2606040" cy="137160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7889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4AA890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5204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075"/>
                </a:solidFill>
                <a:latin typeface="Consolas"/>
              </a:rPr>
              <a:t>KNOWN FALSE-POSITIVE FAMILIES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34840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5E7EB"/>
                </a:solidFill>
                <a:latin typeface="Calibri"/>
              </a:rPr>
              <a:t>Regression matrix.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72744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Every real-world captured payload becomes a pinned test — never breaks silently.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57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257800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5E7EB"/>
                </a:solidFill>
                <a:latin typeface="Calibri"/>
              </a:rPr>
              <a:t>Corpus fuzzing.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55040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training/corpus/generator_v2.py — 900+ synthetic obfuscation shapes.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807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6080760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5E7EB"/>
                </a:solidFill>
                <a:latin typeface="Calibri"/>
              </a:rPr>
              <a:t>SEC audit passed.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63733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SEC-001/002/003 remediated: JWT secret rotated, admin seed idempotent, owner-scoped investigations.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46520"/>
            <a:ext cx="3200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NIVXRAY · TECHNICAL · INTERNAL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nsolas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890"/>
                </a:solidFill>
                <a:latin typeface="Consolas"/>
              </a:rPr>
              <a:t>LIVE DEMO · 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Calibri"/>
              </a:rPr>
              <a:t>Watch the pipeline light up in real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Calibri"/>
              </a:rPr>
              <a:t>Everything below is scripted so it always works — but pausable at every step.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5486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5E7EB"/>
                </a:solidFill>
                <a:latin typeface="Calibri"/>
              </a:rPr>
              <a:t>1. Paste PS gzip loader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9864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Empire-style one-liner with variable indirection ($b='H4sI…')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29000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5E7EB"/>
                </a:solidFill>
                <a:latin typeface="Calibri"/>
              </a:rPr>
              <a:t>2. Hit NIVXRAY DECODE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2160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Archetype fires → stage 0 confidence 100 in &lt; 1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51960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5E7EB"/>
                </a:solidFill>
                <a:latin typeface="Calibri"/>
              </a:rPr>
              <a:t>3. Reveal chain-mode auto-detect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445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Multi-line paste auto-splits into 3 stages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074920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5E7EB"/>
                </a:solidFill>
                <a:latin typeface="Calibri"/>
              </a:rPr>
              <a:t>4. Aggregate SOC verdict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36752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Family: Destructive Wiper · Malicious 100/100 · MITRE mapped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897880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5E7EB"/>
                </a:solidFill>
                <a:latin typeface="Calibri"/>
              </a:rPr>
              <a:t>5. AI NARRATIVE (whole chain)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619048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ONE LLM call → analyst-grade description streamed via SSE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7208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6720840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5E7EB"/>
                </a:solidFill>
                <a:latin typeface="Calibri"/>
              </a:rPr>
              <a:t>6. Export 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701344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Ready-to-paste ticket update. Every step reproducible.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46520"/>
            <a:ext cx="3200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NIVXRAY · TECHNICAL · INTERNAL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nsolas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vxray-mark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0972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743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4AA890"/>
                </a:solidFill>
                <a:latin typeface="Consolas"/>
              </a:rPr>
              <a:t>QUESTIONS · CODE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46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E5E7EB"/>
                </a:solidFill>
                <a:latin typeface="Calibri"/>
              </a:rPr>
              <a:t>Let's open the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8B949E"/>
                </a:solidFill>
                <a:latin typeface="Calibri"/>
              </a:rPr>
              <a:t>We'll drop into /app/backend/wrapper_archetypes.py or wherever your team wants to go.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4937760"/>
            <a:ext cx="5394960" cy="1097280"/>
          </a:xfrm>
          <a:prstGeom prst="rect">
            <a:avLst/>
          </a:prstGeom>
          <a:solidFill>
            <a:srgbClr val="171A1C"/>
          </a:solidFill>
          <a:ln w="12700">
            <a:solidFill>
              <a:srgbClr val="4AA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507492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4AA890"/>
                </a:solidFill>
                <a:latin typeface="Consolas"/>
              </a:rPr>
              <a:t>engineering@nivxforge.com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54864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  <a:latin typeface="Consolas"/>
              </a:rPr>
              <a:t>github.com/nivxforge/nivxray  ·  discord.gg/nivxforge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46520"/>
            <a:ext cx="3200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NIVXRAY · TECHNICAL · 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nsolas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